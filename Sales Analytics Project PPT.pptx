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9547D-ABB3-4328-BA63-4C2027BC4C62}" v="3" dt="2025-09-11T13:25:14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rs\Downloads\ExcelSheet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rs\Downloads\ExcelSheet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rs\Downloads\ExcelSheet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rs\Downloads\ExcelSheet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[ExcelSheet Project.xlsx]Monthly Sales Trend!PivotTable2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Monthly Adjusted Sales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'Monthly Sales Trend'!$B$3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'Monthly Sales Trend'!$A$4:$A$14</c:f>
              <c:strCache>
                <c:ptCount val="10"/>
                <c:pt idx="0">
                  <c:v>Aug-2017</c:v>
                </c:pt>
                <c:pt idx="1">
                  <c:v>Dec-2014</c:v>
                </c:pt>
                <c:pt idx="2">
                  <c:v>Dec-2016</c:v>
                </c:pt>
                <c:pt idx="3">
                  <c:v>Jan-2017</c:v>
                </c:pt>
                <c:pt idx="4">
                  <c:v>Mar-2017</c:v>
                </c:pt>
                <c:pt idx="5">
                  <c:v>Nov-2016</c:v>
                </c:pt>
                <c:pt idx="6">
                  <c:v>Nov-2017</c:v>
                </c:pt>
                <c:pt idx="7">
                  <c:v>Sep-2014</c:v>
                </c:pt>
                <c:pt idx="8">
                  <c:v>Sep-2015</c:v>
                </c:pt>
                <c:pt idx="9">
                  <c:v>Sep-2017</c:v>
                </c:pt>
              </c:strCache>
            </c:strRef>
          </c:cat>
          <c:val>
            <c:numRef>
              <c:f>'Monthly Sales Trend'!$B$4:$B$14</c:f>
              <c:numCache>
                <c:formatCode>"₹"\ #,##0.00</c:formatCode>
                <c:ptCount val="10"/>
                <c:pt idx="0">
                  <c:v>64625.129049999974</c:v>
                </c:pt>
                <c:pt idx="1">
                  <c:v>56295.710250999975</c:v>
                </c:pt>
                <c:pt idx="2">
                  <c:v>64441.667974999997</c:v>
                </c:pt>
                <c:pt idx="3">
                  <c:v>58429.44279999999</c:v>
                </c:pt>
                <c:pt idx="4">
                  <c:v>67667.657863999979</c:v>
                </c:pt>
                <c:pt idx="5">
                  <c:v>56679.721449999975</c:v>
                </c:pt>
                <c:pt idx="6">
                  <c:v>76710.84096000003</c:v>
                </c:pt>
                <c:pt idx="7">
                  <c:v>56385.718904000016</c:v>
                </c:pt>
                <c:pt idx="8">
                  <c:v>59400.591300000007</c:v>
                </c:pt>
                <c:pt idx="9">
                  <c:v>64035.315150000002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F3-4264-BB51-29829111EA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1988703"/>
        <c:axId val="811979103"/>
      </c:lineChart>
      <c:catAx>
        <c:axId val="81198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79103"/>
        <c:crosses val="autoZero"/>
        <c:auto val="1"/>
        <c:lblAlgn val="ctr"/>
        <c:lblOffset val="100"/>
        <c:noMultiLvlLbl val="0"/>
      </c:catAx>
      <c:valAx>
        <c:axId val="81197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88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[ExcelSheet Project.xlsx]Sales by Category Time!PivotTable3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Sales Trends by Category Over Time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</a:schemeClr>
            </a:solidFill>
            <a:ln w="9525">
              <a:solidFill>
                <a:schemeClr val="accent5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</a:schemeClr>
            </a:solidFill>
            <a:ln w="9525">
              <a:solidFill>
                <a:schemeClr val="accent6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  <a:lumOff val="20000"/>
              </a:schemeClr>
            </a:solidFill>
            <a:ln w="9525">
              <a:solidFill>
                <a:schemeClr val="accent1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  <a:lumOff val="20000"/>
              </a:schemeClr>
            </a:solidFill>
            <a:ln w="9525">
              <a:solidFill>
                <a:schemeClr val="accent2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  <a:lumOff val="20000"/>
              </a:schemeClr>
            </a:solidFill>
            <a:ln w="9525">
              <a:solidFill>
                <a:schemeClr val="accent3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  <a:lumOff val="20000"/>
              </a:schemeClr>
            </a:solidFill>
            <a:ln w="9525">
              <a:solidFill>
                <a:schemeClr val="accent4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  <a:lumOff val="20000"/>
              </a:schemeClr>
            </a:solidFill>
            <a:ln w="9525">
              <a:solidFill>
                <a:schemeClr val="accent5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  <a:lumOff val="20000"/>
              </a:schemeClr>
            </a:solidFill>
            <a:ln w="9525">
              <a:solidFill>
                <a:schemeClr val="accent6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</a:schemeClr>
            </a:solidFill>
            <a:ln w="9525">
              <a:solidFill>
                <a:schemeClr val="accent1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</a:schemeClr>
            </a:solidFill>
            <a:ln w="9525">
              <a:solidFill>
                <a:schemeClr val="accent2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</a:schemeClr>
            </a:solidFill>
            <a:ln w="9525">
              <a:solidFill>
                <a:schemeClr val="accent3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</a:schemeClr>
            </a:solidFill>
            <a:ln w="9525">
              <a:solidFill>
                <a:schemeClr val="accent4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</a:schemeClr>
            </a:solidFill>
            <a:ln w="9525">
              <a:solidFill>
                <a:schemeClr val="accent5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</a:schemeClr>
            </a:solidFill>
            <a:ln w="9525">
              <a:solidFill>
                <a:schemeClr val="accent6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accent4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accent5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50000"/>
              </a:schemeClr>
            </a:solidFill>
            <a:ln w="9525">
              <a:solidFill>
                <a:schemeClr val="accent3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50000"/>
              </a:schemeClr>
            </a:solidFill>
            <a:ln w="9525">
              <a:solidFill>
                <a:schemeClr val="accent4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50000"/>
              </a:schemeClr>
            </a:solidFill>
            <a:ln w="9525">
              <a:solidFill>
                <a:schemeClr val="accent5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5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70000"/>
                <a:lumOff val="30000"/>
              </a:schemeClr>
            </a:solidFill>
            <a:ln w="9525">
              <a:solidFill>
                <a:schemeClr val="accent1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70000"/>
                <a:lumOff val="30000"/>
              </a:schemeClr>
            </a:solidFill>
            <a:ln w="9525">
              <a:solidFill>
                <a:schemeClr val="accent2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70000"/>
                <a:lumOff val="30000"/>
              </a:schemeClr>
            </a:solidFill>
            <a:ln w="9525">
              <a:solidFill>
                <a:schemeClr val="accent3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70000"/>
                <a:lumOff val="30000"/>
              </a:schemeClr>
            </a:solidFill>
            <a:ln w="9525">
              <a:solidFill>
                <a:schemeClr val="accent4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70000"/>
                <a:lumOff val="30000"/>
              </a:schemeClr>
            </a:solidFill>
            <a:ln w="9525">
              <a:solidFill>
                <a:schemeClr val="accent5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70000"/>
                <a:lumOff val="30000"/>
              </a:schemeClr>
            </a:solidFill>
            <a:ln w="9525">
              <a:solidFill>
                <a:schemeClr val="accent6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70000"/>
              </a:schemeClr>
            </a:solidFill>
            <a:ln w="9525">
              <a:solidFill>
                <a:schemeClr val="accent1">
                  <a:lumMod val="7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70000"/>
              </a:schemeClr>
            </a:solidFill>
            <a:ln w="9525">
              <a:solidFill>
                <a:schemeClr val="accent2">
                  <a:lumMod val="7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70000"/>
              </a:schemeClr>
            </a:solidFill>
            <a:ln w="9525">
              <a:solidFill>
                <a:schemeClr val="accent3">
                  <a:lumMod val="7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70000"/>
              </a:schemeClr>
            </a:solidFill>
            <a:ln w="9525">
              <a:solidFill>
                <a:schemeClr val="accent4">
                  <a:lumMod val="7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70000"/>
              </a:schemeClr>
            </a:solidFill>
            <a:ln w="9525">
              <a:solidFill>
                <a:schemeClr val="accent5">
                  <a:lumMod val="7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70000"/>
              </a:schemeClr>
            </a:solidFill>
            <a:ln w="9525">
              <a:solidFill>
                <a:schemeClr val="accent6">
                  <a:lumMod val="7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  <a:lumOff val="50000"/>
              </a:schemeClr>
            </a:solidFill>
            <a:ln w="9525">
              <a:solidFill>
                <a:schemeClr val="accent1">
                  <a:lumMod val="50000"/>
                  <a:lumOff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50000"/>
                <a:lumOff val="50000"/>
              </a:schemeClr>
            </a:solidFill>
            <a:ln w="9525">
              <a:solidFill>
                <a:schemeClr val="accent2">
                  <a:lumMod val="50000"/>
                  <a:lumOff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50000"/>
                <a:lumOff val="50000"/>
              </a:schemeClr>
            </a:solidFill>
            <a:ln w="9525">
              <a:solidFill>
                <a:schemeClr val="accent3">
                  <a:lumMod val="50000"/>
                  <a:lumOff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chemeClr val="accent4">
                  <a:lumMod val="50000"/>
                  <a:lumOff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50000"/>
                <a:lumOff val="50000"/>
              </a:schemeClr>
            </a:solidFill>
            <a:ln w="9525">
              <a:solidFill>
                <a:schemeClr val="accent5">
                  <a:lumMod val="50000"/>
                  <a:lumOff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50000"/>
                <a:lumOff val="50000"/>
              </a:schemeClr>
            </a:solidFill>
            <a:ln w="9525">
              <a:solidFill>
                <a:schemeClr val="accent6">
                  <a:lumMod val="50000"/>
                  <a:lumOff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</a:schemeClr>
            </a:solidFill>
            <a:ln w="9525">
              <a:solidFill>
                <a:schemeClr val="accent5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</a:schemeClr>
            </a:solidFill>
            <a:ln w="9525">
              <a:solidFill>
                <a:schemeClr val="accent6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  <a:lumOff val="20000"/>
              </a:schemeClr>
            </a:solidFill>
            <a:ln w="9525">
              <a:solidFill>
                <a:schemeClr val="accent1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  <a:lumOff val="20000"/>
              </a:schemeClr>
            </a:solidFill>
            <a:ln w="9525">
              <a:solidFill>
                <a:schemeClr val="accent2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  <a:lumOff val="20000"/>
              </a:schemeClr>
            </a:solidFill>
            <a:ln w="9525">
              <a:solidFill>
                <a:schemeClr val="accent3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  <a:lumOff val="20000"/>
              </a:schemeClr>
            </a:solidFill>
            <a:ln w="9525">
              <a:solidFill>
                <a:schemeClr val="accent4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  <a:lumOff val="20000"/>
              </a:schemeClr>
            </a:solidFill>
            <a:ln w="9525">
              <a:solidFill>
                <a:schemeClr val="accent5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  <a:lumOff val="20000"/>
              </a:schemeClr>
            </a:solidFill>
            <a:ln w="9525">
              <a:solidFill>
                <a:schemeClr val="accent6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</a:schemeClr>
            </a:solidFill>
            <a:ln w="9525">
              <a:solidFill>
                <a:schemeClr val="accent1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</a:schemeClr>
            </a:solidFill>
            <a:ln w="9525">
              <a:solidFill>
                <a:schemeClr val="accent2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</a:schemeClr>
            </a:solidFill>
            <a:ln w="9525">
              <a:solidFill>
                <a:schemeClr val="accent3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</a:schemeClr>
            </a:solidFill>
            <a:ln w="9525">
              <a:solidFill>
                <a:schemeClr val="accent4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</a:schemeClr>
            </a:solidFill>
            <a:ln w="9525">
              <a:solidFill>
                <a:schemeClr val="accent5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</a:schemeClr>
            </a:solidFill>
            <a:ln w="9525">
              <a:solidFill>
                <a:schemeClr val="accent6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accent4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accent5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50000"/>
              </a:schemeClr>
            </a:solidFill>
            <a:ln w="9525">
              <a:solidFill>
                <a:schemeClr val="accent3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50000"/>
              </a:schemeClr>
            </a:solidFill>
            <a:ln w="9525">
              <a:solidFill>
                <a:schemeClr val="accent4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50000"/>
              </a:schemeClr>
            </a:solidFill>
            <a:ln w="9525">
              <a:solidFill>
                <a:schemeClr val="accent5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5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70000"/>
                <a:lumOff val="30000"/>
              </a:schemeClr>
            </a:solidFill>
            <a:ln w="9525">
              <a:solidFill>
                <a:schemeClr val="accent1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70000"/>
                <a:lumOff val="30000"/>
              </a:schemeClr>
            </a:solidFill>
            <a:ln w="9525">
              <a:solidFill>
                <a:schemeClr val="accent2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70000"/>
                <a:lumOff val="30000"/>
              </a:schemeClr>
            </a:solidFill>
            <a:ln w="9525">
              <a:solidFill>
                <a:schemeClr val="accent3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70000"/>
                <a:lumOff val="30000"/>
              </a:schemeClr>
            </a:solidFill>
            <a:ln w="9525">
              <a:solidFill>
                <a:schemeClr val="accent4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70000"/>
                <a:lumOff val="30000"/>
              </a:schemeClr>
            </a:solidFill>
            <a:ln w="9525">
              <a:solidFill>
                <a:schemeClr val="accent5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70000"/>
                <a:lumOff val="30000"/>
              </a:schemeClr>
            </a:solidFill>
            <a:ln w="9525">
              <a:solidFill>
                <a:schemeClr val="accent6">
                  <a:lumMod val="70000"/>
                  <a:lumOff val="3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</a:schemeClr>
            </a:solidFill>
            <a:ln w="9525">
              <a:solidFill>
                <a:schemeClr val="accent5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</a:schemeClr>
            </a:solidFill>
            <a:ln w="9525">
              <a:solidFill>
                <a:schemeClr val="accent6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  <a:lumOff val="20000"/>
              </a:schemeClr>
            </a:solidFill>
            <a:ln w="9525">
              <a:solidFill>
                <a:schemeClr val="accent1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  <a:lumOff val="20000"/>
              </a:schemeClr>
            </a:solidFill>
            <a:ln w="9525">
              <a:solidFill>
                <a:schemeClr val="accent2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  <a:lumOff val="20000"/>
              </a:schemeClr>
            </a:solidFill>
            <a:ln w="9525">
              <a:solidFill>
                <a:schemeClr val="accent3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  <a:lumOff val="20000"/>
              </a:schemeClr>
            </a:solidFill>
            <a:ln w="9525">
              <a:solidFill>
                <a:schemeClr val="accent4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  <a:lumOff val="20000"/>
              </a:schemeClr>
            </a:solidFill>
            <a:ln w="9525">
              <a:solidFill>
                <a:schemeClr val="accent5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  <a:lumOff val="20000"/>
              </a:schemeClr>
            </a:solidFill>
            <a:ln w="9525">
              <a:solidFill>
                <a:schemeClr val="accent6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</a:schemeClr>
            </a:solidFill>
            <a:ln w="9525">
              <a:solidFill>
                <a:schemeClr val="accent1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</a:schemeClr>
            </a:solidFill>
            <a:ln w="9525">
              <a:solidFill>
                <a:schemeClr val="accent2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</a:schemeClr>
            </a:solidFill>
            <a:ln w="9525">
              <a:solidFill>
                <a:schemeClr val="accent5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</a:schemeClr>
            </a:solidFill>
            <a:ln w="9525">
              <a:solidFill>
                <a:schemeClr val="accent6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  <a:lumOff val="20000"/>
              </a:schemeClr>
            </a:solidFill>
            <a:ln w="9525">
              <a:solidFill>
                <a:schemeClr val="accent1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  <a:lumOff val="20000"/>
              </a:schemeClr>
            </a:solidFill>
            <a:ln w="9525">
              <a:solidFill>
                <a:schemeClr val="accent2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  <a:lumOff val="20000"/>
              </a:schemeClr>
            </a:solidFill>
            <a:ln w="9525">
              <a:solidFill>
                <a:schemeClr val="accent3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  <a:lumOff val="20000"/>
              </a:schemeClr>
            </a:solidFill>
            <a:ln w="9525">
              <a:solidFill>
                <a:schemeClr val="accent4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  <a:lumOff val="20000"/>
              </a:schemeClr>
            </a:solidFill>
            <a:ln w="9525">
              <a:solidFill>
                <a:schemeClr val="accent5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  <a:lumOff val="20000"/>
              </a:schemeClr>
            </a:solidFill>
            <a:ln w="9525">
              <a:solidFill>
                <a:schemeClr val="accent6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</a:schemeClr>
            </a:solidFill>
            <a:ln w="9525">
              <a:solidFill>
                <a:schemeClr val="accent1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</a:schemeClr>
            </a:solidFill>
            <a:ln w="9525">
              <a:solidFill>
                <a:schemeClr val="accent2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60000"/>
              </a:schemeClr>
            </a:solidFill>
            <a:ln w="9525">
              <a:solidFill>
                <a:schemeClr val="accent2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60000"/>
              </a:schemeClr>
            </a:solidFill>
            <a:ln w="9525">
              <a:solidFill>
                <a:schemeClr val="accent3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60000"/>
              </a:schemeClr>
            </a:solidFill>
            <a:ln w="9525">
              <a:solidFill>
                <a:schemeClr val="accent4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60000"/>
              </a:schemeClr>
            </a:solidFill>
            <a:ln w="9525">
              <a:solidFill>
                <a:schemeClr val="accent5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60000"/>
              </a:schemeClr>
            </a:solidFill>
            <a:ln w="9525">
              <a:solidFill>
                <a:schemeClr val="accent6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  <a:lumOff val="20000"/>
              </a:schemeClr>
            </a:solidFill>
            <a:ln w="9525">
              <a:solidFill>
                <a:schemeClr val="accent1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  <a:lumOff val="20000"/>
              </a:schemeClr>
            </a:solidFill>
            <a:ln w="9525">
              <a:solidFill>
                <a:schemeClr val="accent2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lumMod val="80000"/>
                <a:lumOff val="20000"/>
              </a:schemeClr>
            </a:solidFill>
            <a:ln w="9525">
              <a:solidFill>
                <a:schemeClr val="accent3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>
                <a:lumMod val="80000"/>
                <a:lumOff val="20000"/>
              </a:schemeClr>
            </a:solidFill>
            <a:ln w="9525">
              <a:solidFill>
                <a:schemeClr val="accent4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>
                <a:lumMod val="80000"/>
                <a:lumOff val="20000"/>
              </a:schemeClr>
            </a:solidFill>
            <a:ln w="9525">
              <a:solidFill>
                <a:schemeClr val="accent5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>
                <a:lumMod val="80000"/>
                <a:lumOff val="20000"/>
              </a:schemeClr>
            </a:solidFill>
            <a:ln w="9525">
              <a:solidFill>
                <a:schemeClr val="accent6">
                  <a:lumMod val="80000"/>
                  <a:lumOff val="2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80000"/>
              </a:schemeClr>
            </a:solidFill>
            <a:ln w="9525">
              <a:solidFill>
                <a:schemeClr val="accent1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>
                <a:lumMod val="80000"/>
              </a:schemeClr>
            </a:solidFill>
            <a:ln w="9525">
              <a:solidFill>
                <a:schemeClr val="accent2">
                  <a:lumMod val="8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'Sales by Category Time'!$B$4:$B$6</c:f>
              <c:strCache>
                <c:ptCount val="1"/>
                <c:pt idx="0">
                  <c:v>Aug-2017 - Sum of Adjusted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Time'!$B$7:$B$27</c:f>
              <c:numCache>
                <c:formatCode>"₹"\ #,##0.00</c:formatCode>
                <c:ptCount val="17"/>
                <c:pt idx="0">
                  <c:v>2934.7307499999997</c:v>
                </c:pt>
                <c:pt idx="1">
                  <c:v>6361.5626000000002</c:v>
                </c:pt>
                <c:pt idx="2">
                  <c:v>2615.328</c:v>
                </c:pt>
                <c:pt idx="3">
                  <c:v>5405.0033000000003</c:v>
                </c:pt>
                <c:pt idx="4">
                  <c:v>6769.1132000000016</c:v>
                </c:pt>
                <c:pt idx="5">
                  <c:v>512.89120000000003</c:v>
                </c:pt>
                <c:pt idx="6">
                  <c:v>11940.544800000001</c:v>
                </c:pt>
                <c:pt idx="7">
                  <c:v>52.764800000000001</c:v>
                </c:pt>
                <c:pt idx="8">
                  <c:v>97.892800000000008</c:v>
                </c:pt>
                <c:pt idx="9">
                  <c:v>1131.6032000000002</c:v>
                </c:pt>
                <c:pt idx="10">
                  <c:v>1894.2560000000001</c:v>
                </c:pt>
                <c:pt idx="11">
                  <c:v>9234.2947999999997</c:v>
                </c:pt>
                <c:pt idx="12">
                  <c:v>165.006</c:v>
                </c:pt>
                <c:pt idx="13">
                  <c:v>5190.0951999999997</c:v>
                </c:pt>
                <c:pt idx="14">
                  <c:v>4607.9168000000009</c:v>
                </c:pt>
                <c:pt idx="16">
                  <c:v>5712.1256000000003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EC-4B77-B2AB-EC6CF2D23CAF}"/>
            </c:ext>
          </c:extLst>
        </c:ser>
        <c:ser>
          <c:idx val="1"/>
          <c:order val="1"/>
          <c:tx>
            <c:strRef>
              <c:f>'Sales by Category Time'!$C$4:$C$6</c:f>
              <c:strCache>
                <c:ptCount val="1"/>
                <c:pt idx="0">
                  <c:v>Aug-2017 - Count of Order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Time'!$C$7:$C$27</c:f>
              <c:numCache>
                <c:formatCode>General</c:formatCode>
                <c:ptCount val="17"/>
                <c:pt idx="0">
                  <c:v>4</c:v>
                </c:pt>
                <c:pt idx="1">
                  <c:v>14</c:v>
                </c:pt>
                <c:pt idx="2">
                  <c:v>27</c:v>
                </c:pt>
                <c:pt idx="3">
                  <c:v>9</c:v>
                </c:pt>
                <c:pt idx="4">
                  <c:v>18</c:v>
                </c:pt>
                <c:pt idx="5">
                  <c:v>18</c:v>
                </c:pt>
                <c:pt idx="6">
                  <c:v>36</c:v>
                </c:pt>
                <c:pt idx="7">
                  <c:v>4</c:v>
                </c:pt>
                <c:pt idx="8">
                  <c:v>4</c:v>
                </c:pt>
                <c:pt idx="9">
                  <c:v>10</c:v>
                </c:pt>
                <c:pt idx="10">
                  <c:v>31</c:v>
                </c:pt>
                <c:pt idx="11">
                  <c:v>30</c:v>
                </c:pt>
                <c:pt idx="12">
                  <c:v>8</c:v>
                </c:pt>
                <c:pt idx="13">
                  <c:v>19</c:v>
                </c:pt>
                <c:pt idx="14">
                  <c:v>4</c:v>
                </c:pt>
                <c:pt idx="16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EC-4B77-B2AB-EC6CF2D23CAF}"/>
            </c:ext>
          </c:extLst>
        </c:ser>
        <c:ser>
          <c:idx val="2"/>
          <c:order val="2"/>
          <c:tx>
            <c:strRef>
              <c:f>'Sales by Category Time'!$D$4:$D$6</c:f>
              <c:strCache>
                <c:ptCount val="1"/>
                <c:pt idx="0">
                  <c:v>Dec-2014 - Sum of Adjusted Sales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Time'!$D$7:$D$27</c:f>
              <c:numCache>
                <c:formatCode>"₹"\ #,##0.00</c:formatCode>
                <c:ptCount val="17"/>
                <c:pt idx="0">
                  <c:v>2125.938251</c:v>
                </c:pt>
                <c:pt idx="1">
                  <c:v>13696.6958</c:v>
                </c:pt>
                <c:pt idx="2">
                  <c:v>1451.4772000000003</c:v>
                </c:pt>
                <c:pt idx="3">
                  <c:v>8180.1468000000004</c:v>
                </c:pt>
                <c:pt idx="4">
                  <c:v>2983.6108000000004</c:v>
                </c:pt>
                <c:pt idx="5">
                  <c:v>350.86959999999999</c:v>
                </c:pt>
                <c:pt idx="6">
                  <c:v>3280.2465999999995</c:v>
                </c:pt>
                <c:pt idx="7">
                  <c:v>68.819200000000009</c:v>
                </c:pt>
                <c:pt idx="8">
                  <c:v>59.146000000000001</c:v>
                </c:pt>
                <c:pt idx="9">
                  <c:v>463.03159999999997</c:v>
                </c:pt>
                <c:pt idx="10">
                  <c:v>1171.3016000000002</c:v>
                </c:pt>
                <c:pt idx="11">
                  <c:v>3696.0228000000002</c:v>
                </c:pt>
                <c:pt idx="12">
                  <c:v>466.15439999999995</c:v>
                </c:pt>
                <c:pt idx="13">
                  <c:v>4936.5388000000012</c:v>
                </c:pt>
                <c:pt idx="15">
                  <c:v>7684.3116</c:v>
                </c:pt>
                <c:pt idx="16">
                  <c:v>5681.3992000000017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EC-4B77-B2AB-EC6CF2D23CAF}"/>
            </c:ext>
          </c:extLst>
        </c:ser>
        <c:ser>
          <c:idx val="3"/>
          <c:order val="3"/>
          <c:tx>
            <c:strRef>
              <c:f>'Sales by Category Time'!$E$4:$E$6</c:f>
              <c:strCache>
                <c:ptCount val="1"/>
                <c:pt idx="0">
                  <c:v>Dec-2014 - Count of Order ID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Time'!$E$7:$E$27</c:f>
              <c:numCache>
                <c:formatCode>General</c:formatCode>
                <c:ptCount val="17"/>
                <c:pt idx="0">
                  <c:v>5</c:v>
                </c:pt>
                <c:pt idx="1">
                  <c:v>23</c:v>
                </c:pt>
                <c:pt idx="2">
                  <c:v>29</c:v>
                </c:pt>
                <c:pt idx="3">
                  <c:v>10</c:v>
                </c:pt>
                <c:pt idx="4">
                  <c:v>14</c:v>
                </c:pt>
                <c:pt idx="5">
                  <c:v>16</c:v>
                </c:pt>
                <c:pt idx="6">
                  <c:v>33</c:v>
                </c:pt>
                <c:pt idx="7">
                  <c:v>3</c:v>
                </c:pt>
                <c:pt idx="8">
                  <c:v>6</c:v>
                </c:pt>
                <c:pt idx="9">
                  <c:v>9</c:v>
                </c:pt>
                <c:pt idx="10">
                  <c:v>25</c:v>
                </c:pt>
                <c:pt idx="11">
                  <c:v>22</c:v>
                </c:pt>
                <c:pt idx="12">
                  <c:v>8</c:v>
                </c:pt>
                <c:pt idx="13">
                  <c:v>25</c:v>
                </c:pt>
                <c:pt idx="15">
                  <c:v>3</c:v>
                </c:pt>
                <c:pt idx="16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EC-4B77-B2AB-EC6CF2D23CAF}"/>
            </c:ext>
          </c:extLst>
        </c:ser>
        <c:ser>
          <c:idx val="4"/>
          <c:order val="4"/>
          <c:tx>
            <c:strRef>
              <c:f>'Sales by Category Time'!$F$4:$F$6</c:f>
              <c:strCache>
                <c:ptCount val="1"/>
                <c:pt idx="0">
                  <c:v>Dec-2016 - Sum of Adjusted Sales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Time'!$F$7:$F$27</c:f>
              <c:numCache>
                <c:formatCode>"₹"\ #,##0.00</c:formatCode>
                <c:ptCount val="17"/>
                <c:pt idx="0">
                  <c:v>98.960400000000007</c:v>
                </c:pt>
                <c:pt idx="1">
                  <c:v>12160.924799999999</c:v>
                </c:pt>
                <c:pt idx="2">
                  <c:v>4712.4152000000004</c:v>
                </c:pt>
                <c:pt idx="3">
                  <c:v>8839.1800750000002</c:v>
                </c:pt>
                <c:pt idx="4">
                  <c:v>1004.0816000000001</c:v>
                </c:pt>
                <c:pt idx="5">
                  <c:v>274.70240000000001</c:v>
                </c:pt>
                <c:pt idx="6">
                  <c:v>12317.006000000001</c:v>
                </c:pt>
                <c:pt idx="7">
                  <c:v>705.19360000000006</c:v>
                </c:pt>
                <c:pt idx="8">
                  <c:v>98.968800000000016</c:v>
                </c:pt>
                <c:pt idx="9">
                  <c:v>112.99120000000001</c:v>
                </c:pt>
                <c:pt idx="10">
                  <c:v>1590.8620000000003</c:v>
                </c:pt>
                <c:pt idx="11">
                  <c:v>7996.8899999999985</c:v>
                </c:pt>
                <c:pt idx="12">
                  <c:v>1440.6935999999998</c:v>
                </c:pt>
                <c:pt idx="13">
                  <c:v>4160.0247999999992</c:v>
                </c:pt>
                <c:pt idx="14">
                  <c:v>1999.96</c:v>
                </c:pt>
                <c:pt idx="15">
                  <c:v>795.82429999999999</c:v>
                </c:pt>
                <c:pt idx="16">
                  <c:v>6132.9892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DEC-4B77-B2AB-EC6CF2D23CAF}"/>
            </c:ext>
          </c:extLst>
        </c:ser>
        <c:ser>
          <c:idx val="5"/>
          <c:order val="5"/>
          <c:tx>
            <c:strRef>
              <c:f>'Sales by Category Time'!$G$4:$G$6</c:f>
              <c:strCache>
                <c:ptCount val="1"/>
                <c:pt idx="0">
                  <c:v>Dec-2016 - Count of Order ID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Time'!$G$7:$G$27</c:f>
              <c:numCache>
                <c:formatCode>General</c:formatCode>
                <c:ptCount val="17"/>
                <c:pt idx="0">
                  <c:v>1</c:v>
                </c:pt>
                <c:pt idx="1">
                  <c:v>23</c:v>
                </c:pt>
                <c:pt idx="2">
                  <c:v>30</c:v>
                </c:pt>
                <c:pt idx="3">
                  <c:v>14</c:v>
                </c:pt>
                <c:pt idx="4">
                  <c:v>15</c:v>
                </c:pt>
                <c:pt idx="5">
                  <c:v>17</c:v>
                </c:pt>
                <c:pt idx="6">
                  <c:v>40</c:v>
                </c:pt>
                <c:pt idx="7">
                  <c:v>9</c:v>
                </c:pt>
                <c:pt idx="8">
                  <c:v>7</c:v>
                </c:pt>
                <c:pt idx="9">
                  <c:v>9</c:v>
                </c:pt>
                <c:pt idx="10">
                  <c:v>35</c:v>
                </c:pt>
                <c:pt idx="11">
                  <c:v>21</c:v>
                </c:pt>
                <c:pt idx="12">
                  <c:v>6</c:v>
                </c:pt>
                <c:pt idx="13">
                  <c:v>20</c:v>
                </c:pt>
                <c:pt idx="14">
                  <c:v>1</c:v>
                </c:pt>
                <c:pt idx="15">
                  <c:v>3</c:v>
                </c:pt>
                <c:pt idx="16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DEC-4B77-B2AB-EC6CF2D23CAF}"/>
            </c:ext>
          </c:extLst>
        </c:ser>
        <c:ser>
          <c:idx val="6"/>
          <c:order val="6"/>
          <c:tx>
            <c:strRef>
              <c:f>'Sales by Category Time'!$H$4:$H$6</c:f>
              <c:strCache>
                <c:ptCount val="1"/>
                <c:pt idx="0">
                  <c:v>Jan-2017 - Sum of Adjusted Sales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Time'!$H$7:$H$27</c:f>
              <c:numCache>
                <c:formatCode>"₹"\ #,##0.00</c:formatCode>
                <c:ptCount val="17"/>
                <c:pt idx="0">
                  <c:v>1101.626</c:v>
                </c:pt>
                <c:pt idx="1">
                  <c:v>8448.414499999999</c:v>
                </c:pt>
                <c:pt idx="2">
                  <c:v>1805.1548</c:v>
                </c:pt>
                <c:pt idx="3">
                  <c:v>4027.8791999999999</c:v>
                </c:pt>
                <c:pt idx="4">
                  <c:v>5155.9919999999993</c:v>
                </c:pt>
                <c:pt idx="5">
                  <c:v>396.63639999999998</c:v>
                </c:pt>
                <c:pt idx="6">
                  <c:v>6688.3217999999988</c:v>
                </c:pt>
                <c:pt idx="7">
                  <c:v>361.10880000000003</c:v>
                </c:pt>
                <c:pt idx="8">
                  <c:v>84.416000000000011</c:v>
                </c:pt>
                <c:pt idx="9">
                  <c:v>46.462399999999995</c:v>
                </c:pt>
                <c:pt idx="10">
                  <c:v>1519.9172000000003</c:v>
                </c:pt>
                <c:pt idx="11">
                  <c:v>4394.0604000000003</c:v>
                </c:pt>
                <c:pt idx="12">
                  <c:v>4200.6264000000001</c:v>
                </c:pt>
                <c:pt idx="13">
                  <c:v>2337.67</c:v>
                </c:pt>
                <c:pt idx="14">
                  <c:v>2999.95</c:v>
                </c:pt>
                <c:pt idx="15">
                  <c:v>6724.7421000000004</c:v>
                </c:pt>
                <c:pt idx="16">
                  <c:v>8136.4647999999988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DEC-4B77-B2AB-EC6CF2D23CAF}"/>
            </c:ext>
          </c:extLst>
        </c:ser>
        <c:ser>
          <c:idx val="7"/>
          <c:order val="7"/>
          <c:tx>
            <c:strRef>
              <c:f>'Sales by Category Time'!$I$4:$I$6</c:f>
              <c:strCache>
                <c:ptCount val="1"/>
                <c:pt idx="0">
                  <c:v>Jan-2017 - Count of Order ID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Time'!$I$7:$I$27</c:f>
              <c:numCache>
                <c:formatCode>General</c:formatCode>
                <c:ptCount val="17"/>
                <c:pt idx="0">
                  <c:v>5</c:v>
                </c:pt>
                <c:pt idx="1">
                  <c:v>15</c:v>
                </c:pt>
                <c:pt idx="2">
                  <c:v>16</c:v>
                </c:pt>
                <c:pt idx="3">
                  <c:v>6</c:v>
                </c:pt>
                <c:pt idx="4">
                  <c:v>11</c:v>
                </c:pt>
                <c:pt idx="5">
                  <c:v>16</c:v>
                </c:pt>
                <c:pt idx="6">
                  <c:v>40</c:v>
                </c:pt>
                <c:pt idx="7">
                  <c:v>6</c:v>
                </c:pt>
                <c:pt idx="8">
                  <c:v>5</c:v>
                </c:pt>
                <c:pt idx="9">
                  <c:v>7</c:v>
                </c:pt>
                <c:pt idx="10">
                  <c:v>28</c:v>
                </c:pt>
                <c:pt idx="11">
                  <c:v>20</c:v>
                </c:pt>
                <c:pt idx="12">
                  <c:v>4</c:v>
                </c:pt>
                <c:pt idx="13">
                  <c:v>17</c:v>
                </c:pt>
                <c:pt idx="14">
                  <c:v>1</c:v>
                </c:pt>
                <c:pt idx="15">
                  <c:v>4</c:v>
                </c:pt>
                <c:pt idx="16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DEC-4B77-B2AB-EC6CF2D23CAF}"/>
            </c:ext>
          </c:extLst>
        </c:ser>
        <c:ser>
          <c:idx val="8"/>
          <c:order val="8"/>
          <c:tx>
            <c:strRef>
              <c:f>'Sales by Category Time'!$J$4:$J$6</c:f>
              <c:strCache>
                <c:ptCount val="1"/>
                <c:pt idx="0">
                  <c:v>Mar-2017 - Sum of Adjusted Sales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Time'!$J$7:$J$27</c:f>
              <c:numCache>
                <c:formatCode>"₹"\ #,##0.00</c:formatCode>
                <c:ptCount val="17"/>
                <c:pt idx="0">
                  <c:v>1566.8773639999999</c:v>
                </c:pt>
                <c:pt idx="1">
                  <c:v>5663.4282999999996</c:v>
                </c:pt>
                <c:pt idx="2">
                  <c:v>1888.4584</c:v>
                </c:pt>
                <c:pt idx="3">
                  <c:v>4140.2292000000007</c:v>
                </c:pt>
                <c:pt idx="4">
                  <c:v>1477.3388</c:v>
                </c:pt>
                <c:pt idx="5">
                  <c:v>398.14919999999995</c:v>
                </c:pt>
                <c:pt idx="6">
                  <c:v>4374.7160000000003</c:v>
                </c:pt>
                <c:pt idx="7">
                  <c:v>418.91320000000002</c:v>
                </c:pt>
                <c:pt idx="8">
                  <c:v>23.18</c:v>
                </c:pt>
                <c:pt idx="9">
                  <c:v>162.36240000000001</c:v>
                </c:pt>
                <c:pt idx="10">
                  <c:v>3774.7236000000003</c:v>
                </c:pt>
                <c:pt idx="11">
                  <c:v>4659.4732000000004</c:v>
                </c:pt>
                <c:pt idx="12">
                  <c:v>1481.1328000000001</c:v>
                </c:pt>
                <c:pt idx="13">
                  <c:v>7323.3228000000008</c:v>
                </c:pt>
                <c:pt idx="14">
                  <c:v>20839.839599999999</c:v>
                </c:pt>
                <c:pt idx="15">
                  <c:v>2926.2653999999998</c:v>
                </c:pt>
                <c:pt idx="16">
                  <c:v>6549.2476000000006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DEC-4B77-B2AB-EC6CF2D23CAF}"/>
            </c:ext>
          </c:extLst>
        </c:ser>
        <c:ser>
          <c:idx val="9"/>
          <c:order val="9"/>
          <c:tx>
            <c:strRef>
              <c:f>'Sales by Category Time'!$K$4:$K$6</c:f>
              <c:strCache>
                <c:ptCount val="1"/>
                <c:pt idx="0">
                  <c:v>Mar-2017 - Count of Order ID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Time'!$K$7:$K$27</c:f>
              <c:numCache>
                <c:formatCode>General</c:formatCode>
                <c:ptCount val="17"/>
                <c:pt idx="0">
                  <c:v>6</c:v>
                </c:pt>
                <c:pt idx="1">
                  <c:v>14</c:v>
                </c:pt>
                <c:pt idx="2">
                  <c:v>30</c:v>
                </c:pt>
                <c:pt idx="3">
                  <c:v>10</c:v>
                </c:pt>
                <c:pt idx="4">
                  <c:v>14</c:v>
                </c:pt>
                <c:pt idx="5">
                  <c:v>22</c:v>
                </c:pt>
                <c:pt idx="6">
                  <c:v>39</c:v>
                </c:pt>
                <c:pt idx="7">
                  <c:v>5</c:v>
                </c:pt>
                <c:pt idx="8">
                  <c:v>3</c:v>
                </c:pt>
                <c:pt idx="9">
                  <c:v>10</c:v>
                </c:pt>
                <c:pt idx="10">
                  <c:v>52</c:v>
                </c:pt>
                <c:pt idx="11">
                  <c:v>25</c:v>
                </c:pt>
                <c:pt idx="12">
                  <c:v>4</c:v>
                </c:pt>
                <c:pt idx="13">
                  <c:v>33</c:v>
                </c:pt>
                <c:pt idx="14">
                  <c:v>6</c:v>
                </c:pt>
                <c:pt idx="15">
                  <c:v>5</c:v>
                </c:pt>
                <c:pt idx="16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DEC-4B77-B2AB-EC6CF2D23CAF}"/>
            </c:ext>
          </c:extLst>
        </c:ser>
        <c:ser>
          <c:idx val="10"/>
          <c:order val="10"/>
          <c:tx>
            <c:strRef>
              <c:f>'Sales by Category Time'!$L$4:$L$6</c:f>
              <c:strCache>
                <c:ptCount val="1"/>
                <c:pt idx="0">
                  <c:v>Nov-2016 - Sum of Adjusted Sales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Time'!$L$7:$L$27</c:f>
              <c:numCache>
                <c:formatCode>"₹"\ #,##0.00</c:formatCode>
                <c:ptCount val="17"/>
                <c:pt idx="0">
                  <c:v>3533.5942000000005</c:v>
                </c:pt>
                <c:pt idx="1">
                  <c:v>5452.2342000000008</c:v>
                </c:pt>
                <c:pt idx="2">
                  <c:v>1556.364</c:v>
                </c:pt>
                <c:pt idx="3">
                  <c:v>6799.3692499999997</c:v>
                </c:pt>
                <c:pt idx="4">
                  <c:v>1492.3371999999999</c:v>
                </c:pt>
                <c:pt idx="5">
                  <c:v>554.13599999999985</c:v>
                </c:pt>
                <c:pt idx="6">
                  <c:v>3416.674</c:v>
                </c:pt>
                <c:pt idx="7">
                  <c:v>184.52040000000005</c:v>
                </c:pt>
                <c:pt idx="8">
                  <c:v>107.0168</c:v>
                </c:pt>
                <c:pt idx="9">
                  <c:v>111.90560000000001</c:v>
                </c:pt>
                <c:pt idx="10">
                  <c:v>1372.3035999999997</c:v>
                </c:pt>
                <c:pt idx="11">
                  <c:v>6574.1688000000004</c:v>
                </c:pt>
                <c:pt idx="12">
                  <c:v>127.37479999999999</c:v>
                </c:pt>
                <c:pt idx="13">
                  <c:v>9794.8140000000003</c:v>
                </c:pt>
                <c:pt idx="14">
                  <c:v>2319.9056</c:v>
                </c:pt>
                <c:pt idx="15">
                  <c:v>4719.0190000000002</c:v>
                </c:pt>
                <c:pt idx="16">
                  <c:v>8563.9840000000004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ADEC-4B77-B2AB-EC6CF2D23CAF}"/>
            </c:ext>
          </c:extLst>
        </c:ser>
        <c:ser>
          <c:idx val="11"/>
          <c:order val="11"/>
          <c:tx>
            <c:strRef>
              <c:f>'Sales by Category Time'!$M$4:$M$6</c:f>
              <c:strCache>
                <c:ptCount val="1"/>
                <c:pt idx="0">
                  <c:v>Nov-2016 - Count of Order ID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Time'!$M$7:$M$27</c:f>
              <c:numCache>
                <c:formatCode>General</c:formatCode>
                <c:ptCount val="17"/>
                <c:pt idx="0">
                  <c:v>5</c:v>
                </c:pt>
                <c:pt idx="1">
                  <c:v>18</c:v>
                </c:pt>
                <c:pt idx="2">
                  <c:v>25</c:v>
                </c:pt>
                <c:pt idx="3">
                  <c:v>9</c:v>
                </c:pt>
                <c:pt idx="4">
                  <c:v>12</c:v>
                </c:pt>
                <c:pt idx="5">
                  <c:v>20</c:v>
                </c:pt>
                <c:pt idx="6">
                  <c:v>52</c:v>
                </c:pt>
                <c:pt idx="7">
                  <c:v>5</c:v>
                </c:pt>
                <c:pt idx="8">
                  <c:v>7</c:v>
                </c:pt>
                <c:pt idx="9">
                  <c:v>8</c:v>
                </c:pt>
                <c:pt idx="10">
                  <c:v>35</c:v>
                </c:pt>
                <c:pt idx="11">
                  <c:v>28</c:v>
                </c:pt>
                <c:pt idx="12">
                  <c:v>4</c:v>
                </c:pt>
                <c:pt idx="13">
                  <c:v>31</c:v>
                </c:pt>
                <c:pt idx="14">
                  <c:v>2</c:v>
                </c:pt>
                <c:pt idx="15">
                  <c:v>4</c:v>
                </c:pt>
                <c:pt idx="16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ADEC-4B77-B2AB-EC6CF2D23CAF}"/>
            </c:ext>
          </c:extLst>
        </c:ser>
        <c:ser>
          <c:idx val="12"/>
          <c:order val="12"/>
          <c:tx>
            <c:strRef>
              <c:f>'Sales by Category Time'!$N$4:$N$6</c:f>
              <c:strCache>
                <c:ptCount val="1"/>
                <c:pt idx="0">
                  <c:v>Nov-2017 - Sum of Adjusted Sales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Time'!$N$7:$N$27</c:f>
              <c:numCache>
                <c:formatCode>"₹"\ #,##0.00</c:formatCode>
                <c:ptCount val="17"/>
                <c:pt idx="0">
                  <c:v>1889.4904099999999</c:v>
                </c:pt>
                <c:pt idx="1">
                  <c:v>11611.2238</c:v>
                </c:pt>
                <c:pt idx="2">
                  <c:v>5312.8576000000003</c:v>
                </c:pt>
                <c:pt idx="3">
                  <c:v>4583.3308500000003</c:v>
                </c:pt>
                <c:pt idx="4">
                  <c:v>5575.347999999999</c:v>
                </c:pt>
                <c:pt idx="5">
                  <c:v>1240.3032000000003</c:v>
                </c:pt>
                <c:pt idx="6">
                  <c:v>6201.1770000000006</c:v>
                </c:pt>
                <c:pt idx="7">
                  <c:v>405.74559999999997</c:v>
                </c:pt>
                <c:pt idx="8">
                  <c:v>122.676</c:v>
                </c:pt>
                <c:pt idx="9">
                  <c:v>163.19800000000001</c:v>
                </c:pt>
                <c:pt idx="10">
                  <c:v>2254.1620000000003</c:v>
                </c:pt>
                <c:pt idx="11">
                  <c:v>7579.6612000000023</c:v>
                </c:pt>
                <c:pt idx="12">
                  <c:v>37.552799999999998</c:v>
                </c:pt>
                <c:pt idx="13">
                  <c:v>4387.5935999999983</c:v>
                </c:pt>
                <c:pt idx="14">
                  <c:v>11039.959199999999</c:v>
                </c:pt>
                <c:pt idx="15">
                  <c:v>2924.9529000000002</c:v>
                </c:pt>
                <c:pt idx="16">
                  <c:v>11381.6088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ADEC-4B77-B2AB-EC6CF2D23CAF}"/>
            </c:ext>
          </c:extLst>
        </c:ser>
        <c:ser>
          <c:idx val="13"/>
          <c:order val="13"/>
          <c:tx>
            <c:strRef>
              <c:f>'Sales by Category Time'!$O$4:$O$6</c:f>
              <c:strCache>
                <c:ptCount val="1"/>
                <c:pt idx="0">
                  <c:v>Nov-2017 - Count of Order ID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Time'!$O$7:$O$27</c:f>
              <c:numCache>
                <c:formatCode>General</c:formatCode>
                <c:ptCount val="17"/>
                <c:pt idx="0">
                  <c:v>8</c:v>
                </c:pt>
                <c:pt idx="1">
                  <c:v>22</c:v>
                </c:pt>
                <c:pt idx="2">
                  <c:v>41</c:v>
                </c:pt>
                <c:pt idx="3">
                  <c:v>13</c:v>
                </c:pt>
                <c:pt idx="4">
                  <c:v>22</c:v>
                </c:pt>
                <c:pt idx="5">
                  <c:v>40</c:v>
                </c:pt>
                <c:pt idx="6">
                  <c:v>52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  <c:pt idx="10">
                  <c:v>45</c:v>
                </c:pt>
                <c:pt idx="11">
                  <c:v>33</c:v>
                </c:pt>
                <c:pt idx="12">
                  <c:v>4</c:v>
                </c:pt>
                <c:pt idx="13">
                  <c:v>25</c:v>
                </c:pt>
                <c:pt idx="14">
                  <c:v>2</c:v>
                </c:pt>
                <c:pt idx="15">
                  <c:v>5</c:v>
                </c:pt>
                <c:pt idx="16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ADEC-4B77-B2AB-EC6CF2D23CAF}"/>
            </c:ext>
          </c:extLst>
        </c:ser>
        <c:ser>
          <c:idx val="14"/>
          <c:order val="14"/>
          <c:tx>
            <c:strRef>
              <c:f>'Sales by Category Time'!$P$4:$P$6</c:f>
              <c:strCache>
                <c:ptCount val="1"/>
                <c:pt idx="0">
                  <c:v>Sep-2014 - Sum of Adjusted Sales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Time'!$P$7:$P$27</c:f>
              <c:numCache>
                <c:formatCode>"₹"\ #,##0.00</c:formatCode>
                <c:ptCount val="17"/>
                <c:pt idx="0">
                  <c:v>2215.681004</c:v>
                </c:pt>
                <c:pt idx="1">
                  <c:v>3980.5649000000003</c:v>
                </c:pt>
                <c:pt idx="2">
                  <c:v>1492.0155999999999</c:v>
                </c:pt>
                <c:pt idx="3">
                  <c:v>6065.3186999999998</c:v>
                </c:pt>
                <c:pt idx="4">
                  <c:v>1754.2820000000002</c:v>
                </c:pt>
                <c:pt idx="5">
                  <c:v>493.00839999999988</c:v>
                </c:pt>
                <c:pt idx="6">
                  <c:v>11566.052100000001</c:v>
                </c:pt>
                <c:pt idx="7">
                  <c:v>383.52879999999999</c:v>
                </c:pt>
                <c:pt idx="8">
                  <c:v>35.659599999999998</c:v>
                </c:pt>
                <c:pt idx="9">
                  <c:v>342.31279999999992</c:v>
                </c:pt>
                <c:pt idx="10">
                  <c:v>1530.4748000000004</c:v>
                </c:pt>
                <c:pt idx="11">
                  <c:v>8039.3496000000005</c:v>
                </c:pt>
                <c:pt idx="12">
                  <c:v>14.66</c:v>
                </c:pt>
                <c:pt idx="13">
                  <c:v>1296.9044000000004</c:v>
                </c:pt>
                <c:pt idx="14">
                  <c:v>2447.9556000000002</c:v>
                </c:pt>
                <c:pt idx="15">
                  <c:v>8668.4449999999997</c:v>
                </c:pt>
                <c:pt idx="16">
                  <c:v>6059.5056000000004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ADEC-4B77-B2AB-EC6CF2D23CAF}"/>
            </c:ext>
          </c:extLst>
        </c:ser>
        <c:ser>
          <c:idx val="15"/>
          <c:order val="15"/>
          <c:tx>
            <c:strRef>
              <c:f>'Sales by Category Time'!$Q$4:$Q$6</c:f>
              <c:strCache>
                <c:ptCount val="1"/>
                <c:pt idx="0">
                  <c:v>Sep-2014 - Count of Order ID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  <a:lumOff val="20000"/>
                </a:schemeClr>
              </a:solidFill>
              <a:ln w="9525">
                <a:solidFill>
                  <a:schemeClr val="accent4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Time'!$Q$7:$Q$27</c:f>
              <c:numCache>
                <c:formatCode>General</c:formatCode>
                <c:ptCount val="17"/>
                <c:pt idx="0">
                  <c:v>7</c:v>
                </c:pt>
                <c:pt idx="1">
                  <c:v>8</c:v>
                </c:pt>
                <c:pt idx="2">
                  <c:v>22</c:v>
                </c:pt>
                <c:pt idx="3">
                  <c:v>8</c:v>
                </c:pt>
                <c:pt idx="4">
                  <c:v>15</c:v>
                </c:pt>
                <c:pt idx="5">
                  <c:v>18</c:v>
                </c:pt>
                <c:pt idx="6">
                  <c:v>26</c:v>
                </c:pt>
                <c:pt idx="7">
                  <c:v>7</c:v>
                </c:pt>
                <c:pt idx="8">
                  <c:v>6</c:v>
                </c:pt>
                <c:pt idx="9">
                  <c:v>12</c:v>
                </c:pt>
                <c:pt idx="10">
                  <c:v>44</c:v>
                </c:pt>
                <c:pt idx="11">
                  <c:v>24</c:v>
                </c:pt>
                <c:pt idx="12">
                  <c:v>2</c:v>
                </c:pt>
                <c:pt idx="13">
                  <c:v>14</c:v>
                </c:pt>
                <c:pt idx="14">
                  <c:v>2</c:v>
                </c:pt>
                <c:pt idx="15">
                  <c:v>7</c:v>
                </c:pt>
                <c:pt idx="16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ADEC-4B77-B2AB-EC6CF2D23CAF}"/>
            </c:ext>
          </c:extLst>
        </c:ser>
        <c:ser>
          <c:idx val="16"/>
          <c:order val="16"/>
          <c:tx>
            <c:strRef>
              <c:f>'Sales by Category Time'!$R$4:$R$6</c:f>
              <c:strCache>
                <c:ptCount val="1"/>
                <c:pt idx="0">
                  <c:v>Sep-2015 - Sum of Adjusted Sales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80000"/>
                  <a:lumOff val="20000"/>
                </a:schemeClr>
              </a:solidFill>
              <a:ln w="9525">
                <a:solidFill>
                  <a:schemeClr val="accent5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Time'!$R$7:$R$27</c:f>
              <c:numCache>
                <c:formatCode>"₹"\ #,##0.00</c:formatCode>
                <c:ptCount val="17"/>
                <c:pt idx="0">
                  <c:v>7508.6014000000005</c:v>
                </c:pt>
                <c:pt idx="1">
                  <c:v>8977.0213999999996</c:v>
                </c:pt>
                <c:pt idx="2">
                  <c:v>1745.8784000000001</c:v>
                </c:pt>
                <c:pt idx="3">
                  <c:v>5274.424</c:v>
                </c:pt>
                <c:pt idx="4">
                  <c:v>2647.2757000000001</c:v>
                </c:pt>
                <c:pt idx="5">
                  <c:v>617.90440000000001</c:v>
                </c:pt>
                <c:pt idx="6">
                  <c:v>2681.9920000000002</c:v>
                </c:pt>
                <c:pt idx="7">
                  <c:v>462.99120000000005</c:v>
                </c:pt>
                <c:pt idx="8">
                  <c:v>74.879600000000011</c:v>
                </c:pt>
                <c:pt idx="9">
                  <c:v>181.28879999999998</c:v>
                </c:pt>
                <c:pt idx="10">
                  <c:v>1959.8560000000004</c:v>
                </c:pt>
                <c:pt idx="11">
                  <c:v>5857.4556000000011</c:v>
                </c:pt>
                <c:pt idx="12">
                  <c:v>115.87</c:v>
                </c:pt>
                <c:pt idx="13">
                  <c:v>5900.4188000000004</c:v>
                </c:pt>
                <c:pt idx="14">
                  <c:v>703.98720000000003</c:v>
                </c:pt>
                <c:pt idx="15">
                  <c:v>3416.7999999999997</c:v>
                </c:pt>
                <c:pt idx="16">
                  <c:v>11273.9468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ADEC-4B77-B2AB-EC6CF2D23CAF}"/>
            </c:ext>
          </c:extLst>
        </c:ser>
        <c:ser>
          <c:idx val="17"/>
          <c:order val="17"/>
          <c:tx>
            <c:strRef>
              <c:f>'Sales by Category Time'!$S$4:$S$6</c:f>
              <c:strCache>
                <c:ptCount val="1"/>
                <c:pt idx="0">
                  <c:v>Sep-2015 - Count of Order ID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80000"/>
                  <a:lumOff val="20000"/>
                </a:schemeClr>
              </a:solidFill>
              <a:ln w="9525">
                <a:solidFill>
                  <a:schemeClr val="accent6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Time'!$S$7:$S$27</c:f>
              <c:numCache>
                <c:formatCode>General</c:formatCode>
                <c:ptCount val="17"/>
                <c:pt idx="0">
                  <c:v>7</c:v>
                </c:pt>
                <c:pt idx="1">
                  <c:v>14</c:v>
                </c:pt>
                <c:pt idx="2">
                  <c:v>22</c:v>
                </c:pt>
                <c:pt idx="3">
                  <c:v>9</c:v>
                </c:pt>
                <c:pt idx="4">
                  <c:v>12</c:v>
                </c:pt>
                <c:pt idx="5">
                  <c:v>21</c:v>
                </c:pt>
                <c:pt idx="6">
                  <c:v>50</c:v>
                </c:pt>
                <c:pt idx="7">
                  <c:v>12</c:v>
                </c:pt>
                <c:pt idx="8">
                  <c:v>6</c:v>
                </c:pt>
                <c:pt idx="9">
                  <c:v>8</c:v>
                </c:pt>
                <c:pt idx="10">
                  <c:v>33</c:v>
                </c:pt>
                <c:pt idx="11">
                  <c:v>29</c:v>
                </c:pt>
                <c:pt idx="12">
                  <c:v>4</c:v>
                </c:pt>
                <c:pt idx="13">
                  <c:v>21</c:v>
                </c:pt>
                <c:pt idx="14">
                  <c:v>1</c:v>
                </c:pt>
                <c:pt idx="15">
                  <c:v>3</c:v>
                </c:pt>
                <c:pt idx="16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ADEC-4B77-B2AB-EC6CF2D23CAF}"/>
            </c:ext>
          </c:extLst>
        </c:ser>
        <c:ser>
          <c:idx val="18"/>
          <c:order val="18"/>
          <c:tx>
            <c:strRef>
              <c:f>'Sales by Category Time'!$T$4:$T$6</c:f>
              <c:strCache>
                <c:ptCount val="1"/>
                <c:pt idx="0">
                  <c:v>Sep-2017 - Sum of Adjusted Sales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</a:schemeClr>
              </a:solidFill>
              <a:ln w="9525">
                <a:solidFill>
                  <a:schemeClr val="accent1">
                    <a:lumMod val="8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Time'!$T$7:$T$27</c:f>
              <c:numCache>
                <c:formatCode>"₹"\ #,##0.00</c:formatCode>
                <c:ptCount val="17"/>
                <c:pt idx="0">
                  <c:v>2771.2928500000003</c:v>
                </c:pt>
                <c:pt idx="1">
                  <c:v>12032.586800000001</c:v>
                </c:pt>
                <c:pt idx="2">
                  <c:v>2389.8927999999992</c:v>
                </c:pt>
                <c:pt idx="3">
                  <c:v>1865.1775999999998</c:v>
                </c:pt>
                <c:pt idx="4">
                  <c:v>1935.9180000000001</c:v>
                </c:pt>
                <c:pt idx="5">
                  <c:v>960.12440000000004</c:v>
                </c:pt>
                <c:pt idx="6">
                  <c:v>5350.6702000000014</c:v>
                </c:pt>
                <c:pt idx="7">
                  <c:v>399.84719999999999</c:v>
                </c:pt>
                <c:pt idx="8">
                  <c:v>57.26</c:v>
                </c:pt>
                <c:pt idx="9">
                  <c:v>405.30119999999999</c:v>
                </c:pt>
                <c:pt idx="10">
                  <c:v>4084.0376000000015</c:v>
                </c:pt>
                <c:pt idx="11">
                  <c:v>6681.8531999999996</c:v>
                </c:pt>
                <c:pt idx="12">
                  <c:v>4053.2064000000005</c:v>
                </c:pt>
                <c:pt idx="13">
                  <c:v>7110.5235999999986</c:v>
                </c:pt>
                <c:pt idx="14">
                  <c:v>1783.9672</c:v>
                </c:pt>
                <c:pt idx="15">
                  <c:v>1163.0565000000001</c:v>
                </c:pt>
                <c:pt idx="16">
                  <c:v>10990.5996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ADEC-4B77-B2AB-EC6CF2D23CAF}"/>
            </c:ext>
          </c:extLst>
        </c:ser>
        <c:ser>
          <c:idx val="19"/>
          <c:order val="19"/>
          <c:tx>
            <c:strRef>
              <c:f>'Sales by Category Time'!$U$4:$U$6</c:f>
              <c:strCache>
                <c:ptCount val="1"/>
                <c:pt idx="0">
                  <c:v>Sep-2017 - Count of Order ID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</a:schemeClr>
              </a:solidFill>
              <a:ln w="9525">
                <a:solidFill>
                  <a:schemeClr val="accent2">
                    <a:lumMod val="80000"/>
                  </a:schemeClr>
                </a:solidFill>
              </a:ln>
              <a:effectLst/>
            </c:spPr>
          </c:marker>
          <c:cat>
            <c:multiLvlStrRef>
              <c:f>'Sales by Category Time'!$A$7:$A$27</c:f>
              <c:multiLvlStrCache>
                <c:ptCount val="17"/>
                <c:lvl>
                  <c:pt idx="0">
                    <c:v>Bookcases</c:v>
                  </c:pt>
                  <c:pt idx="1">
                    <c:v>Chairs</c:v>
                  </c:pt>
                  <c:pt idx="2">
                    <c:v>Furnishings</c:v>
                  </c:pt>
                  <c:pt idx="3">
                    <c:v>Tables</c:v>
                  </c:pt>
                  <c:pt idx="4">
                    <c:v>Appliances</c:v>
                  </c:pt>
                  <c:pt idx="5">
                    <c:v>Art</c:v>
                  </c:pt>
                  <c:pt idx="6">
                    <c:v>Binders</c:v>
                  </c:pt>
                  <c:pt idx="7">
                    <c:v>Envelopes</c:v>
                  </c:pt>
                  <c:pt idx="8">
                    <c:v>Fasteners</c:v>
                  </c:pt>
                  <c:pt idx="9">
                    <c:v>Labels</c:v>
                  </c:pt>
                  <c:pt idx="10">
                    <c:v>Paper</c:v>
                  </c:pt>
                  <c:pt idx="11">
                    <c:v>Storage</c:v>
                  </c:pt>
                  <c:pt idx="12">
                    <c:v>Supplies</c:v>
                  </c:pt>
                  <c:pt idx="13">
                    <c:v>Accessories</c:v>
                  </c:pt>
                  <c:pt idx="14">
                    <c:v>Copiers</c:v>
                  </c:pt>
                  <c:pt idx="15">
                    <c:v>Machines</c:v>
                  </c:pt>
                  <c:pt idx="16">
                    <c:v>Phones</c:v>
                  </c:pt>
                </c:lvl>
                <c:lvl>
                  <c:pt idx="0">
                    <c:v>Furniture</c:v>
                  </c:pt>
                  <c:pt idx="4">
                    <c:v>Office Supplies</c:v>
                  </c:pt>
                  <c:pt idx="13">
                    <c:v>Technology</c:v>
                  </c:pt>
                </c:lvl>
              </c:multiLvlStrCache>
            </c:multiLvlStrRef>
          </c:cat>
          <c:val>
            <c:numRef>
              <c:f>'Sales by Category Time'!$U$7:$U$27</c:f>
              <c:numCache>
                <c:formatCode>General</c:formatCode>
                <c:ptCount val="17"/>
                <c:pt idx="0">
                  <c:v>7</c:v>
                </c:pt>
                <c:pt idx="1">
                  <c:v>26</c:v>
                </c:pt>
                <c:pt idx="2">
                  <c:v>29</c:v>
                </c:pt>
                <c:pt idx="3">
                  <c:v>7</c:v>
                </c:pt>
                <c:pt idx="4">
                  <c:v>14</c:v>
                </c:pt>
                <c:pt idx="5">
                  <c:v>33</c:v>
                </c:pt>
                <c:pt idx="6">
                  <c:v>61</c:v>
                </c:pt>
                <c:pt idx="7">
                  <c:v>13</c:v>
                </c:pt>
                <c:pt idx="8">
                  <c:v>3</c:v>
                </c:pt>
                <c:pt idx="9">
                  <c:v>14</c:v>
                </c:pt>
                <c:pt idx="10">
                  <c:v>62</c:v>
                </c:pt>
                <c:pt idx="11">
                  <c:v>36</c:v>
                </c:pt>
                <c:pt idx="12">
                  <c:v>8</c:v>
                </c:pt>
                <c:pt idx="13">
                  <c:v>39</c:v>
                </c:pt>
                <c:pt idx="14">
                  <c:v>2</c:v>
                </c:pt>
                <c:pt idx="15">
                  <c:v>5</c:v>
                </c:pt>
                <c:pt idx="16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ADEC-4B77-B2AB-EC6CF2D23C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5252352"/>
        <c:axId val="675250432"/>
      </c:lineChart>
      <c:catAx>
        <c:axId val="6752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250432"/>
        <c:crosses val="autoZero"/>
        <c:auto val="1"/>
        <c:lblAlgn val="ctr"/>
        <c:lblOffset val="100"/>
        <c:noMultiLvlLbl val="0"/>
      </c:catAx>
      <c:valAx>
        <c:axId val="675250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252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[ExcelSheet Project.xlsx]Shipping Analysis!PivotTable4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Shipping Performance Analysis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'Shipping Analysis'!$B$4</c:f>
              <c:strCache>
                <c:ptCount val="1"/>
                <c:pt idx="0">
                  <c:v>Average of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'Shipping Analysis'!$A$5:$A$9</c:f>
              <c:strCache>
                <c:ptCount val="4"/>
                <c:pt idx="0">
                  <c:v>First Class</c:v>
                </c:pt>
                <c:pt idx="1">
                  <c:v>Same Day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'Shipping Analysis'!$B$5:$B$9</c:f>
              <c:numCache>
                <c:formatCode>"₹"\ #,##0.00</c:formatCode>
                <c:ptCount val="4"/>
                <c:pt idx="0">
                  <c:v>228.49702399219777</c:v>
                </c:pt>
                <c:pt idx="1">
                  <c:v>236.39617863720059</c:v>
                </c:pt>
                <c:pt idx="2">
                  <c:v>236.0892387660671</c:v>
                </c:pt>
                <c:pt idx="3">
                  <c:v>227.58306685656638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20-4538-BA85-94088E4D6046}"/>
            </c:ext>
          </c:extLst>
        </c:ser>
        <c:ser>
          <c:idx val="1"/>
          <c:order val="1"/>
          <c:tx>
            <c:strRef>
              <c:f>'Shipping Analysis'!$C$4</c:f>
              <c:strCache>
                <c:ptCount val="1"/>
                <c:pt idx="0">
                  <c:v>Sum of Adjusted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'Shipping Analysis'!$A$5:$A$9</c:f>
              <c:strCache>
                <c:ptCount val="4"/>
                <c:pt idx="0">
                  <c:v>First Class</c:v>
                </c:pt>
                <c:pt idx="1">
                  <c:v>Same Day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'Shipping Analysis'!$C$5:$C$9</c:f>
              <c:numCache>
                <c:formatCode>"₹"\ #,##0.00</c:formatCode>
                <c:ptCount val="4"/>
                <c:pt idx="0">
                  <c:v>299633.23111700028</c:v>
                </c:pt>
                <c:pt idx="1">
                  <c:v>108267.00059999987</c:v>
                </c:pt>
                <c:pt idx="2">
                  <c:v>403362.83490200056</c:v>
                </c:pt>
                <c:pt idx="3">
                  <c:v>1163355.6593399965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20-4538-BA85-94088E4D6046}"/>
            </c:ext>
          </c:extLst>
        </c:ser>
        <c:ser>
          <c:idx val="2"/>
          <c:order val="2"/>
          <c:tx>
            <c:strRef>
              <c:f>'Shipping Analysis'!$D$4</c:f>
              <c:strCache>
                <c:ptCount val="1"/>
                <c:pt idx="0">
                  <c:v>Count of Order ID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'Shipping Analysis'!$A$5:$A$9</c:f>
              <c:strCache>
                <c:ptCount val="4"/>
                <c:pt idx="0">
                  <c:v>First Class</c:v>
                </c:pt>
                <c:pt idx="1">
                  <c:v>Same Day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'Shipping Analysis'!$D$5:$D$9</c:f>
              <c:numCache>
                <c:formatCode>0</c:formatCode>
                <c:ptCount val="4"/>
                <c:pt idx="0">
                  <c:v>1538</c:v>
                </c:pt>
                <c:pt idx="1">
                  <c:v>543</c:v>
                </c:pt>
                <c:pt idx="2">
                  <c:v>1945</c:v>
                </c:pt>
                <c:pt idx="3">
                  <c:v>5968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20-4538-BA85-94088E4D60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71918448"/>
        <c:axId val="571918928"/>
      </c:barChart>
      <c:catAx>
        <c:axId val="57191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918928"/>
        <c:crosses val="autoZero"/>
        <c:auto val="1"/>
        <c:lblAlgn val="ctr"/>
        <c:lblOffset val="100"/>
        <c:noMultiLvlLbl val="0"/>
      </c:catAx>
      <c:valAx>
        <c:axId val="571918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91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[ExcelSheet Project.xlsx]Regional Performance!PivotTable5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Regional Performance by Category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'Regional Performance'!$C$3:$C$5</c:f>
              <c:strCache>
                <c:ptCount val="1"/>
                <c:pt idx="0">
                  <c:v>Furniture - Sum of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'Regional Performance'!$A$6:$B$55</c:f>
              <c:multiLvlStrCache>
                <c:ptCount val="49"/>
                <c:lvl>
                  <c:pt idx="0">
                    <c:v>Illinois</c:v>
                  </c:pt>
                  <c:pt idx="1">
                    <c:v>Indiana</c:v>
                  </c:pt>
                  <c:pt idx="2">
                    <c:v>Iowa</c:v>
                  </c:pt>
                  <c:pt idx="3">
                    <c:v>Kansas</c:v>
                  </c:pt>
                  <c:pt idx="4">
                    <c:v>Michigan</c:v>
                  </c:pt>
                  <c:pt idx="5">
                    <c:v>Minnesota</c:v>
                  </c:pt>
                  <c:pt idx="6">
                    <c:v>Missouri</c:v>
                  </c:pt>
                  <c:pt idx="7">
                    <c:v>Nebraska</c:v>
                  </c:pt>
                  <c:pt idx="8">
                    <c:v>North Dakota</c:v>
                  </c:pt>
                  <c:pt idx="9">
                    <c:v>Oklahoma</c:v>
                  </c:pt>
                  <c:pt idx="10">
                    <c:v>South Dakota</c:v>
                  </c:pt>
                  <c:pt idx="11">
                    <c:v>Texas</c:v>
                  </c:pt>
                  <c:pt idx="12">
                    <c:v>Wisconsin</c:v>
                  </c:pt>
                  <c:pt idx="13">
                    <c:v>Connecticut</c:v>
                  </c:pt>
                  <c:pt idx="14">
                    <c:v>Delaware</c:v>
                  </c:pt>
                  <c:pt idx="15">
                    <c:v>District of Columbia</c:v>
                  </c:pt>
                  <c:pt idx="16">
                    <c:v>Maine</c:v>
                  </c:pt>
                  <c:pt idx="17">
                    <c:v>Maryland</c:v>
                  </c:pt>
                  <c:pt idx="18">
                    <c:v>Massachusetts</c:v>
                  </c:pt>
                  <c:pt idx="19">
                    <c:v>New Hampshire</c:v>
                  </c:pt>
                  <c:pt idx="20">
                    <c:v>New Jersey</c:v>
                  </c:pt>
                  <c:pt idx="21">
                    <c:v>New York</c:v>
                  </c:pt>
                  <c:pt idx="22">
                    <c:v>Ohio</c:v>
                  </c:pt>
                  <c:pt idx="23">
                    <c:v>Pennsylvania</c:v>
                  </c:pt>
                  <c:pt idx="24">
                    <c:v>Rhode Island</c:v>
                  </c:pt>
                  <c:pt idx="25">
                    <c:v>Vermont</c:v>
                  </c:pt>
                  <c:pt idx="26">
                    <c:v>West Virginia</c:v>
                  </c:pt>
                  <c:pt idx="27">
                    <c:v>Alabama</c:v>
                  </c:pt>
                  <c:pt idx="28">
                    <c:v>Arkansas</c:v>
                  </c:pt>
                  <c:pt idx="29">
                    <c:v>Florida</c:v>
                  </c:pt>
                  <c:pt idx="30">
                    <c:v>Georgia</c:v>
                  </c:pt>
                  <c:pt idx="31">
                    <c:v>Kentucky</c:v>
                  </c:pt>
                  <c:pt idx="32">
                    <c:v>Louisiana</c:v>
                  </c:pt>
                  <c:pt idx="33">
                    <c:v>Mississippi</c:v>
                  </c:pt>
                  <c:pt idx="34">
                    <c:v>North Carolina</c:v>
                  </c:pt>
                  <c:pt idx="35">
                    <c:v>South Carolina</c:v>
                  </c:pt>
                  <c:pt idx="36">
                    <c:v>Tennessee</c:v>
                  </c:pt>
                  <c:pt idx="37">
                    <c:v>Virginia</c:v>
                  </c:pt>
                  <c:pt idx="38">
                    <c:v>Arizona</c:v>
                  </c:pt>
                  <c:pt idx="39">
                    <c:v>California</c:v>
                  </c:pt>
                  <c:pt idx="40">
                    <c:v>Colorado</c:v>
                  </c:pt>
                  <c:pt idx="41">
                    <c:v>Idaho</c:v>
                  </c:pt>
                  <c:pt idx="42">
                    <c:v>Montana</c:v>
                  </c:pt>
                  <c:pt idx="43">
                    <c:v>Nevada</c:v>
                  </c:pt>
                  <c:pt idx="44">
                    <c:v>New Mexico</c:v>
                  </c:pt>
                  <c:pt idx="45">
                    <c:v>Oregon</c:v>
                  </c:pt>
                  <c:pt idx="46">
                    <c:v>Utah</c:v>
                  </c:pt>
                  <c:pt idx="47">
                    <c:v>Washington</c:v>
                  </c:pt>
                  <c:pt idx="48">
                    <c:v>Wyoming</c:v>
                  </c:pt>
                </c:lvl>
                <c:lvl>
                  <c:pt idx="0">
                    <c:v>Central</c:v>
                  </c:pt>
                  <c:pt idx="13">
                    <c:v>East</c:v>
                  </c:pt>
                  <c:pt idx="27">
                    <c:v>South</c:v>
                  </c:pt>
                  <c:pt idx="38">
                    <c:v>West</c:v>
                  </c:pt>
                </c:lvl>
              </c:multiLvlStrCache>
            </c:multiLvlStrRef>
          </c:cat>
          <c:val>
            <c:numRef>
              <c:f>'Regional Performance'!$C$6:$C$55</c:f>
              <c:numCache>
                <c:formatCode>"₹"\ #,##0.00</c:formatCode>
                <c:ptCount val="49"/>
                <c:pt idx="0">
                  <c:v>-9076.2893999999997</c:v>
                </c:pt>
                <c:pt idx="1">
                  <c:v>2181.2752999999998</c:v>
                </c:pt>
                <c:pt idx="2">
                  <c:v>520.0385</c:v>
                </c:pt>
                <c:pt idx="3">
                  <c:v>36.9696</c:v>
                </c:pt>
                <c:pt idx="4">
                  <c:v>4675.5515999999998</c:v>
                </c:pt>
                <c:pt idx="5">
                  <c:v>2023.8870999999999</c:v>
                </c:pt>
                <c:pt idx="6">
                  <c:v>625.2168999999999</c:v>
                </c:pt>
                <c:pt idx="7">
                  <c:v>518.43640000000005</c:v>
                </c:pt>
                <c:pt idx="9">
                  <c:v>2153.8621999999996</c:v>
                </c:pt>
                <c:pt idx="10">
                  <c:v>67.189800000000005</c:v>
                </c:pt>
                <c:pt idx="11">
                  <c:v>-10436.141899999991</c:v>
                </c:pt>
                <c:pt idx="12">
                  <c:v>3838.9544999999994</c:v>
                </c:pt>
                <c:pt idx="13">
                  <c:v>1226.2805000000001</c:v>
                </c:pt>
                <c:pt idx="14">
                  <c:v>870.70720000000017</c:v>
                </c:pt>
                <c:pt idx="15">
                  <c:v>350.08350000000002</c:v>
                </c:pt>
                <c:pt idx="16">
                  <c:v>33.938800000000001</c:v>
                </c:pt>
                <c:pt idx="17">
                  <c:v>1905.8273999999999</c:v>
                </c:pt>
                <c:pt idx="18">
                  <c:v>1090.0726999999999</c:v>
                </c:pt>
                <c:pt idx="19">
                  <c:v>153.93700000000001</c:v>
                </c:pt>
                <c:pt idx="20">
                  <c:v>932.32929999999999</c:v>
                </c:pt>
                <c:pt idx="21">
                  <c:v>5857.6801000000005</c:v>
                </c:pt>
                <c:pt idx="22">
                  <c:v>-4206.3211999999985</c:v>
                </c:pt>
                <c:pt idx="23">
                  <c:v>-7196.7198999999973</c:v>
                </c:pt>
                <c:pt idx="24">
                  <c:v>913.37699999999995</c:v>
                </c:pt>
                <c:pt idx="25">
                  <c:v>1191.9269999999999</c:v>
                </c:pt>
                <c:pt idx="26">
                  <c:v>-76.953599999999994</c:v>
                </c:pt>
                <c:pt idx="27">
                  <c:v>1231.3882000000001</c:v>
                </c:pt>
                <c:pt idx="28">
                  <c:v>781.45519999999999</c:v>
                </c:pt>
                <c:pt idx="29">
                  <c:v>-2254.9806999999992</c:v>
                </c:pt>
                <c:pt idx="30">
                  <c:v>2049.4580000000001</c:v>
                </c:pt>
                <c:pt idx="31">
                  <c:v>3210.9932000000003</c:v>
                </c:pt>
                <c:pt idx="32">
                  <c:v>685.99459999999999</c:v>
                </c:pt>
                <c:pt idx="33">
                  <c:v>944.81959999999981</c:v>
                </c:pt>
                <c:pt idx="34">
                  <c:v>-3486.4633000000003</c:v>
                </c:pt>
                <c:pt idx="35">
                  <c:v>612.84389999999996</c:v>
                </c:pt>
                <c:pt idx="36">
                  <c:v>-2208.6290999999997</c:v>
                </c:pt>
                <c:pt idx="37">
                  <c:v>5204.3265000000001</c:v>
                </c:pt>
                <c:pt idx="38">
                  <c:v>-2744.9227999999998</c:v>
                </c:pt>
                <c:pt idx="39">
                  <c:v>9162.9655999999886</c:v>
                </c:pt>
                <c:pt idx="40">
                  <c:v>-2683.1342</c:v>
                </c:pt>
                <c:pt idx="41">
                  <c:v>533.9665</c:v>
                </c:pt>
                <c:pt idx="42">
                  <c:v>21.7532</c:v>
                </c:pt>
                <c:pt idx="43">
                  <c:v>524.57049999999992</c:v>
                </c:pt>
                <c:pt idx="44">
                  <c:v>251.5917</c:v>
                </c:pt>
                <c:pt idx="45">
                  <c:v>-1487.5769</c:v>
                </c:pt>
                <c:pt idx="46">
                  <c:v>631.75570000000005</c:v>
                </c:pt>
                <c:pt idx="47">
                  <c:v>7193.7849999999944</c:v>
                </c:pt>
                <c:pt idx="48">
                  <c:v>100.196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4169-9525-60C2B6173392}"/>
            </c:ext>
          </c:extLst>
        </c:ser>
        <c:ser>
          <c:idx val="1"/>
          <c:order val="1"/>
          <c:tx>
            <c:strRef>
              <c:f>'Regional Performance'!$D$3:$D$5</c:f>
              <c:strCache>
                <c:ptCount val="1"/>
                <c:pt idx="0">
                  <c:v>Furniture - Sum of Adjusted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'Regional Performance'!$A$6:$B$55</c:f>
              <c:multiLvlStrCache>
                <c:ptCount val="49"/>
                <c:lvl>
                  <c:pt idx="0">
                    <c:v>Illinois</c:v>
                  </c:pt>
                  <c:pt idx="1">
                    <c:v>Indiana</c:v>
                  </c:pt>
                  <c:pt idx="2">
                    <c:v>Iowa</c:v>
                  </c:pt>
                  <c:pt idx="3">
                    <c:v>Kansas</c:v>
                  </c:pt>
                  <c:pt idx="4">
                    <c:v>Michigan</c:v>
                  </c:pt>
                  <c:pt idx="5">
                    <c:v>Minnesota</c:v>
                  </c:pt>
                  <c:pt idx="6">
                    <c:v>Missouri</c:v>
                  </c:pt>
                  <c:pt idx="7">
                    <c:v>Nebraska</c:v>
                  </c:pt>
                  <c:pt idx="8">
                    <c:v>North Dakota</c:v>
                  </c:pt>
                  <c:pt idx="9">
                    <c:v>Oklahoma</c:v>
                  </c:pt>
                  <c:pt idx="10">
                    <c:v>South Dakota</c:v>
                  </c:pt>
                  <c:pt idx="11">
                    <c:v>Texas</c:v>
                  </c:pt>
                  <c:pt idx="12">
                    <c:v>Wisconsin</c:v>
                  </c:pt>
                  <c:pt idx="13">
                    <c:v>Connecticut</c:v>
                  </c:pt>
                  <c:pt idx="14">
                    <c:v>Delaware</c:v>
                  </c:pt>
                  <c:pt idx="15">
                    <c:v>District of Columbia</c:v>
                  </c:pt>
                  <c:pt idx="16">
                    <c:v>Maine</c:v>
                  </c:pt>
                  <c:pt idx="17">
                    <c:v>Maryland</c:v>
                  </c:pt>
                  <c:pt idx="18">
                    <c:v>Massachusetts</c:v>
                  </c:pt>
                  <c:pt idx="19">
                    <c:v>New Hampshire</c:v>
                  </c:pt>
                  <c:pt idx="20">
                    <c:v>New Jersey</c:v>
                  </c:pt>
                  <c:pt idx="21">
                    <c:v>New York</c:v>
                  </c:pt>
                  <c:pt idx="22">
                    <c:v>Ohio</c:v>
                  </c:pt>
                  <c:pt idx="23">
                    <c:v>Pennsylvania</c:v>
                  </c:pt>
                  <c:pt idx="24">
                    <c:v>Rhode Island</c:v>
                  </c:pt>
                  <c:pt idx="25">
                    <c:v>Vermont</c:v>
                  </c:pt>
                  <c:pt idx="26">
                    <c:v>West Virginia</c:v>
                  </c:pt>
                  <c:pt idx="27">
                    <c:v>Alabama</c:v>
                  </c:pt>
                  <c:pt idx="28">
                    <c:v>Arkansas</c:v>
                  </c:pt>
                  <c:pt idx="29">
                    <c:v>Florida</c:v>
                  </c:pt>
                  <c:pt idx="30">
                    <c:v>Georgia</c:v>
                  </c:pt>
                  <c:pt idx="31">
                    <c:v>Kentucky</c:v>
                  </c:pt>
                  <c:pt idx="32">
                    <c:v>Louisiana</c:v>
                  </c:pt>
                  <c:pt idx="33">
                    <c:v>Mississippi</c:v>
                  </c:pt>
                  <c:pt idx="34">
                    <c:v>North Carolina</c:v>
                  </c:pt>
                  <c:pt idx="35">
                    <c:v>South Carolina</c:v>
                  </c:pt>
                  <c:pt idx="36">
                    <c:v>Tennessee</c:v>
                  </c:pt>
                  <c:pt idx="37">
                    <c:v>Virginia</c:v>
                  </c:pt>
                  <c:pt idx="38">
                    <c:v>Arizona</c:v>
                  </c:pt>
                  <c:pt idx="39">
                    <c:v>California</c:v>
                  </c:pt>
                  <c:pt idx="40">
                    <c:v>Colorado</c:v>
                  </c:pt>
                  <c:pt idx="41">
                    <c:v>Idaho</c:v>
                  </c:pt>
                  <c:pt idx="42">
                    <c:v>Montana</c:v>
                  </c:pt>
                  <c:pt idx="43">
                    <c:v>Nevada</c:v>
                  </c:pt>
                  <c:pt idx="44">
                    <c:v>New Mexico</c:v>
                  </c:pt>
                  <c:pt idx="45">
                    <c:v>Oregon</c:v>
                  </c:pt>
                  <c:pt idx="46">
                    <c:v>Utah</c:v>
                  </c:pt>
                  <c:pt idx="47">
                    <c:v>Washington</c:v>
                  </c:pt>
                  <c:pt idx="48">
                    <c:v>Wyoming</c:v>
                  </c:pt>
                </c:lvl>
                <c:lvl>
                  <c:pt idx="0">
                    <c:v>Central</c:v>
                  </c:pt>
                  <c:pt idx="13">
                    <c:v>East</c:v>
                  </c:pt>
                  <c:pt idx="27">
                    <c:v>South</c:v>
                  </c:pt>
                  <c:pt idx="38">
                    <c:v>West</c:v>
                  </c:pt>
                </c:lvl>
              </c:multiLvlStrCache>
            </c:multiLvlStrRef>
          </c:cat>
          <c:val>
            <c:numRef>
              <c:f>'Regional Performance'!$D$6:$D$55</c:f>
              <c:numCache>
                <c:formatCode>"₹"\ #,##0.00</c:formatCode>
                <c:ptCount val="49"/>
                <c:pt idx="0">
                  <c:v>17618.638599999991</c:v>
                </c:pt>
                <c:pt idx="1">
                  <c:v>11496.710000000001</c:v>
                </c:pt>
                <c:pt idx="2">
                  <c:v>2642.3099999999995</c:v>
                </c:pt>
                <c:pt idx="3">
                  <c:v>111.12</c:v>
                </c:pt>
                <c:pt idx="4">
                  <c:v>22321.099999999995</c:v>
                </c:pt>
                <c:pt idx="5">
                  <c:v>7611.35</c:v>
                </c:pt>
                <c:pt idx="6">
                  <c:v>2936.4500000000007</c:v>
                </c:pt>
                <c:pt idx="7">
                  <c:v>1944.7000000000003</c:v>
                </c:pt>
                <c:pt idx="9">
                  <c:v>8284.1</c:v>
                </c:pt>
                <c:pt idx="10">
                  <c:v>324.89999999999998</c:v>
                </c:pt>
                <c:pt idx="11">
                  <c:v>40995.417883999988</c:v>
                </c:pt>
                <c:pt idx="12">
                  <c:v>17256.609999999993</c:v>
                </c:pt>
                <c:pt idx="13">
                  <c:v>5099.2798999999995</c:v>
                </c:pt>
                <c:pt idx="14">
                  <c:v>4606.2352999999994</c:v>
                </c:pt>
                <c:pt idx="15">
                  <c:v>1346.58</c:v>
                </c:pt>
                <c:pt idx="16">
                  <c:v>109.48</c:v>
                </c:pt>
                <c:pt idx="17">
                  <c:v>8912.3120999999992</c:v>
                </c:pt>
                <c:pt idx="18">
                  <c:v>9729.262799999995</c:v>
                </c:pt>
                <c:pt idx="19">
                  <c:v>1570.5247999999999</c:v>
                </c:pt>
                <c:pt idx="20">
                  <c:v>6181.5543999999991</c:v>
                </c:pt>
                <c:pt idx="21">
                  <c:v>78642.268299999982</c:v>
                </c:pt>
                <c:pt idx="22">
                  <c:v>16144.011499999999</c:v>
                </c:pt>
                <c:pt idx="23">
                  <c:v>26431.863700000009</c:v>
                </c:pt>
                <c:pt idx="24">
                  <c:v>5391.2821999999996</c:v>
                </c:pt>
                <c:pt idx="25">
                  <c:v>5120.0999999999995</c:v>
                </c:pt>
                <c:pt idx="26">
                  <c:v>471.3408</c:v>
                </c:pt>
                <c:pt idx="27">
                  <c:v>6332.4800000000005</c:v>
                </c:pt>
                <c:pt idx="28">
                  <c:v>3187.55</c:v>
                </c:pt>
                <c:pt idx="29">
                  <c:v>17018.386899999994</c:v>
                </c:pt>
                <c:pt idx="30">
                  <c:v>8321.48</c:v>
                </c:pt>
                <c:pt idx="31">
                  <c:v>12126.84</c:v>
                </c:pt>
                <c:pt idx="32">
                  <c:v>2963.03</c:v>
                </c:pt>
                <c:pt idx="33">
                  <c:v>4317.8499999999995</c:v>
                </c:pt>
                <c:pt idx="34">
                  <c:v>10188.040799999999</c:v>
                </c:pt>
                <c:pt idx="35">
                  <c:v>3078.25</c:v>
                </c:pt>
                <c:pt idx="36">
                  <c:v>9562.5144</c:v>
                </c:pt>
                <c:pt idx="37">
                  <c:v>25321.949999999986</c:v>
                </c:pt>
                <c:pt idx="38">
                  <c:v>9362.0212999999985</c:v>
                </c:pt>
                <c:pt idx="39">
                  <c:v>130228.90327499987</c:v>
                </c:pt>
                <c:pt idx="40">
                  <c:v>9365.5291000000052</c:v>
                </c:pt>
                <c:pt idx="41">
                  <c:v>2527.8116</c:v>
                </c:pt>
                <c:pt idx="42">
                  <c:v>63.98</c:v>
                </c:pt>
                <c:pt idx="43">
                  <c:v>4500.3015999999998</c:v>
                </c:pt>
                <c:pt idx="44">
                  <c:v>1478.5736000000002</c:v>
                </c:pt>
                <c:pt idx="45">
                  <c:v>4390.6230000000005</c:v>
                </c:pt>
                <c:pt idx="46">
                  <c:v>4822.3500000000004</c:v>
                </c:pt>
                <c:pt idx="47">
                  <c:v>44742.777599999987</c:v>
                </c:pt>
                <c:pt idx="48">
                  <c:v>1282.5088000000001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95-4169-9525-60C2B6173392}"/>
            </c:ext>
          </c:extLst>
        </c:ser>
        <c:ser>
          <c:idx val="2"/>
          <c:order val="2"/>
          <c:tx>
            <c:strRef>
              <c:f>'Regional Performance'!$E$3:$E$5</c:f>
              <c:strCache>
                <c:ptCount val="1"/>
                <c:pt idx="0">
                  <c:v>Office Supplies - Sum of 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'Regional Performance'!$A$6:$B$55</c:f>
              <c:multiLvlStrCache>
                <c:ptCount val="49"/>
                <c:lvl>
                  <c:pt idx="0">
                    <c:v>Illinois</c:v>
                  </c:pt>
                  <c:pt idx="1">
                    <c:v>Indiana</c:v>
                  </c:pt>
                  <c:pt idx="2">
                    <c:v>Iowa</c:v>
                  </c:pt>
                  <c:pt idx="3">
                    <c:v>Kansas</c:v>
                  </c:pt>
                  <c:pt idx="4">
                    <c:v>Michigan</c:v>
                  </c:pt>
                  <c:pt idx="5">
                    <c:v>Minnesota</c:v>
                  </c:pt>
                  <c:pt idx="6">
                    <c:v>Missouri</c:v>
                  </c:pt>
                  <c:pt idx="7">
                    <c:v>Nebraska</c:v>
                  </c:pt>
                  <c:pt idx="8">
                    <c:v>North Dakota</c:v>
                  </c:pt>
                  <c:pt idx="9">
                    <c:v>Oklahoma</c:v>
                  </c:pt>
                  <c:pt idx="10">
                    <c:v>South Dakota</c:v>
                  </c:pt>
                  <c:pt idx="11">
                    <c:v>Texas</c:v>
                  </c:pt>
                  <c:pt idx="12">
                    <c:v>Wisconsin</c:v>
                  </c:pt>
                  <c:pt idx="13">
                    <c:v>Connecticut</c:v>
                  </c:pt>
                  <c:pt idx="14">
                    <c:v>Delaware</c:v>
                  </c:pt>
                  <c:pt idx="15">
                    <c:v>District of Columbia</c:v>
                  </c:pt>
                  <c:pt idx="16">
                    <c:v>Maine</c:v>
                  </c:pt>
                  <c:pt idx="17">
                    <c:v>Maryland</c:v>
                  </c:pt>
                  <c:pt idx="18">
                    <c:v>Massachusetts</c:v>
                  </c:pt>
                  <c:pt idx="19">
                    <c:v>New Hampshire</c:v>
                  </c:pt>
                  <c:pt idx="20">
                    <c:v>New Jersey</c:v>
                  </c:pt>
                  <c:pt idx="21">
                    <c:v>New York</c:v>
                  </c:pt>
                  <c:pt idx="22">
                    <c:v>Ohio</c:v>
                  </c:pt>
                  <c:pt idx="23">
                    <c:v>Pennsylvania</c:v>
                  </c:pt>
                  <c:pt idx="24">
                    <c:v>Rhode Island</c:v>
                  </c:pt>
                  <c:pt idx="25">
                    <c:v>Vermont</c:v>
                  </c:pt>
                  <c:pt idx="26">
                    <c:v>West Virginia</c:v>
                  </c:pt>
                  <c:pt idx="27">
                    <c:v>Alabama</c:v>
                  </c:pt>
                  <c:pt idx="28">
                    <c:v>Arkansas</c:v>
                  </c:pt>
                  <c:pt idx="29">
                    <c:v>Florida</c:v>
                  </c:pt>
                  <c:pt idx="30">
                    <c:v>Georgia</c:v>
                  </c:pt>
                  <c:pt idx="31">
                    <c:v>Kentucky</c:v>
                  </c:pt>
                  <c:pt idx="32">
                    <c:v>Louisiana</c:v>
                  </c:pt>
                  <c:pt idx="33">
                    <c:v>Mississippi</c:v>
                  </c:pt>
                  <c:pt idx="34">
                    <c:v>North Carolina</c:v>
                  </c:pt>
                  <c:pt idx="35">
                    <c:v>South Carolina</c:v>
                  </c:pt>
                  <c:pt idx="36">
                    <c:v>Tennessee</c:v>
                  </c:pt>
                  <c:pt idx="37">
                    <c:v>Virginia</c:v>
                  </c:pt>
                  <c:pt idx="38">
                    <c:v>Arizona</c:v>
                  </c:pt>
                  <c:pt idx="39">
                    <c:v>California</c:v>
                  </c:pt>
                  <c:pt idx="40">
                    <c:v>Colorado</c:v>
                  </c:pt>
                  <c:pt idx="41">
                    <c:v>Idaho</c:v>
                  </c:pt>
                  <c:pt idx="42">
                    <c:v>Montana</c:v>
                  </c:pt>
                  <c:pt idx="43">
                    <c:v>Nevada</c:v>
                  </c:pt>
                  <c:pt idx="44">
                    <c:v>New Mexico</c:v>
                  </c:pt>
                  <c:pt idx="45">
                    <c:v>Oregon</c:v>
                  </c:pt>
                  <c:pt idx="46">
                    <c:v>Utah</c:v>
                  </c:pt>
                  <c:pt idx="47">
                    <c:v>Washington</c:v>
                  </c:pt>
                  <c:pt idx="48">
                    <c:v>Wyoming</c:v>
                  </c:pt>
                </c:lvl>
                <c:lvl>
                  <c:pt idx="0">
                    <c:v>Central</c:v>
                  </c:pt>
                  <c:pt idx="13">
                    <c:v>East</c:v>
                  </c:pt>
                  <c:pt idx="27">
                    <c:v>South</c:v>
                  </c:pt>
                  <c:pt idx="38">
                    <c:v>West</c:v>
                  </c:pt>
                </c:lvl>
              </c:multiLvlStrCache>
            </c:multiLvlStrRef>
          </c:cat>
          <c:val>
            <c:numRef>
              <c:f>'Regional Performance'!$E$6:$E$55</c:f>
              <c:numCache>
                <c:formatCode>"₹"\ #,##0.00</c:formatCode>
                <c:ptCount val="49"/>
                <c:pt idx="0">
                  <c:v>-8354.1567999999988</c:v>
                </c:pt>
                <c:pt idx="1">
                  <c:v>5200.7836999999981</c:v>
                </c:pt>
                <c:pt idx="2">
                  <c:v>345.40519999999992</c:v>
                </c:pt>
                <c:pt idx="3">
                  <c:v>624.48730000000012</c:v>
                </c:pt>
                <c:pt idx="4">
                  <c:v>15005.333499999999</c:v>
                </c:pt>
                <c:pt idx="5">
                  <c:v>7780.4994999999981</c:v>
                </c:pt>
                <c:pt idx="6">
                  <c:v>2796.2667999999994</c:v>
                </c:pt>
                <c:pt idx="7">
                  <c:v>557.14280000000008</c:v>
                </c:pt>
                <c:pt idx="8">
                  <c:v>230.14969999999997</c:v>
                </c:pt>
                <c:pt idx="9">
                  <c:v>1119.1935000000001</c:v>
                </c:pt>
                <c:pt idx="10">
                  <c:v>193.74190000000002</c:v>
                </c:pt>
                <c:pt idx="11">
                  <c:v>-18584.643400000004</c:v>
                </c:pt>
                <c:pt idx="12">
                  <c:v>1965.7762</c:v>
                </c:pt>
                <c:pt idx="13">
                  <c:v>1504.2776999999996</c:v>
                </c:pt>
                <c:pt idx="14">
                  <c:v>2867.6167999999993</c:v>
                </c:pt>
                <c:pt idx="15">
                  <c:v>60.943399999999997</c:v>
                </c:pt>
                <c:pt idx="16">
                  <c:v>169.5146</c:v>
                </c:pt>
                <c:pt idx="17">
                  <c:v>3802.4737999999993</c:v>
                </c:pt>
                <c:pt idx="18">
                  <c:v>3939.678800000001</c:v>
                </c:pt>
                <c:pt idx="19">
                  <c:v>649.85849999999994</c:v>
                </c:pt>
                <c:pt idx="20">
                  <c:v>4670.3864999999996</c:v>
                </c:pt>
                <c:pt idx="21">
                  <c:v>25994.082900000027</c:v>
                </c:pt>
                <c:pt idx="22">
                  <c:v>-115.11529999999976</c:v>
                </c:pt>
                <c:pt idx="23">
                  <c:v>-5172.0188000000035</c:v>
                </c:pt>
                <c:pt idx="24">
                  <c:v>1774.24</c:v>
                </c:pt>
                <c:pt idx="25">
                  <c:v>605.76499999999999</c:v>
                </c:pt>
                <c:pt idx="26">
                  <c:v>262.87520000000001</c:v>
                </c:pt>
                <c:pt idx="27">
                  <c:v>1257.6342000000002</c:v>
                </c:pt>
                <c:pt idx="28">
                  <c:v>1965.7935000000004</c:v>
                </c:pt>
                <c:pt idx="29">
                  <c:v>-1675.1257999999991</c:v>
                </c:pt>
                <c:pt idx="30">
                  <c:v>9800.9256000000005</c:v>
                </c:pt>
                <c:pt idx="31">
                  <c:v>3832.0670000000009</c:v>
                </c:pt>
                <c:pt idx="32">
                  <c:v>495.09249999999997</c:v>
                </c:pt>
                <c:pt idx="33">
                  <c:v>1241.7542000000001</c:v>
                </c:pt>
                <c:pt idx="34">
                  <c:v>-421.14490000000006</c:v>
                </c:pt>
                <c:pt idx="35">
                  <c:v>702.62519999999995</c:v>
                </c:pt>
                <c:pt idx="36">
                  <c:v>-3199.0982000000008</c:v>
                </c:pt>
                <c:pt idx="37">
                  <c:v>5985.8695000000043</c:v>
                </c:pt>
                <c:pt idx="38">
                  <c:v>-795.50300000000038</c:v>
                </c:pt>
                <c:pt idx="39">
                  <c:v>37748.384699999973</c:v>
                </c:pt>
                <c:pt idx="40">
                  <c:v>-373.13920000000002</c:v>
                </c:pt>
                <c:pt idx="41">
                  <c:v>200.65929999999997</c:v>
                </c:pt>
                <c:pt idx="42">
                  <c:v>288.53990000000005</c:v>
                </c:pt>
                <c:pt idx="43">
                  <c:v>2279.3497999999995</c:v>
                </c:pt>
                <c:pt idx="44">
                  <c:v>568.24160000000018</c:v>
                </c:pt>
                <c:pt idx="45">
                  <c:v>170.75</c:v>
                </c:pt>
                <c:pt idx="46">
                  <c:v>1333.0427</c:v>
                </c:pt>
                <c:pt idx="47">
                  <c:v>11189.523199999991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4169-9525-60C2B6173392}"/>
            </c:ext>
          </c:extLst>
        </c:ser>
        <c:ser>
          <c:idx val="3"/>
          <c:order val="3"/>
          <c:tx>
            <c:strRef>
              <c:f>'Regional Performance'!$F$3:$F$5</c:f>
              <c:strCache>
                <c:ptCount val="1"/>
                <c:pt idx="0">
                  <c:v>Office Supplies - Sum of Adjusted Sales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'Regional Performance'!$A$6:$B$55</c:f>
              <c:multiLvlStrCache>
                <c:ptCount val="49"/>
                <c:lvl>
                  <c:pt idx="0">
                    <c:v>Illinois</c:v>
                  </c:pt>
                  <c:pt idx="1">
                    <c:v>Indiana</c:v>
                  </c:pt>
                  <c:pt idx="2">
                    <c:v>Iowa</c:v>
                  </c:pt>
                  <c:pt idx="3">
                    <c:v>Kansas</c:v>
                  </c:pt>
                  <c:pt idx="4">
                    <c:v>Michigan</c:v>
                  </c:pt>
                  <c:pt idx="5">
                    <c:v>Minnesota</c:v>
                  </c:pt>
                  <c:pt idx="6">
                    <c:v>Missouri</c:v>
                  </c:pt>
                  <c:pt idx="7">
                    <c:v>Nebraska</c:v>
                  </c:pt>
                  <c:pt idx="8">
                    <c:v>North Dakota</c:v>
                  </c:pt>
                  <c:pt idx="9">
                    <c:v>Oklahoma</c:v>
                  </c:pt>
                  <c:pt idx="10">
                    <c:v>South Dakota</c:v>
                  </c:pt>
                  <c:pt idx="11">
                    <c:v>Texas</c:v>
                  </c:pt>
                  <c:pt idx="12">
                    <c:v>Wisconsin</c:v>
                  </c:pt>
                  <c:pt idx="13">
                    <c:v>Connecticut</c:v>
                  </c:pt>
                  <c:pt idx="14">
                    <c:v>Delaware</c:v>
                  </c:pt>
                  <c:pt idx="15">
                    <c:v>District of Columbia</c:v>
                  </c:pt>
                  <c:pt idx="16">
                    <c:v>Maine</c:v>
                  </c:pt>
                  <c:pt idx="17">
                    <c:v>Maryland</c:v>
                  </c:pt>
                  <c:pt idx="18">
                    <c:v>Massachusetts</c:v>
                  </c:pt>
                  <c:pt idx="19">
                    <c:v>New Hampshire</c:v>
                  </c:pt>
                  <c:pt idx="20">
                    <c:v>New Jersey</c:v>
                  </c:pt>
                  <c:pt idx="21">
                    <c:v>New York</c:v>
                  </c:pt>
                  <c:pt idx="22">
                    <c:v>Ohio</c:v>
                  </c:pt>
                  <c:pt idx="23">
                    <c:v>Pennsylvania</c:v>
                  </c:pt>
                  <c:pt idx="24">
                    <c:v>Rhode Island</c:v>
                  </c:pt>
                  <c:pt idx="25">
                    <c:v>Vermont</c:v>
                  </c:pt>
                  <c:pt idx="26">
                    <c:v>West Virginia</c:v>
                  </c:pt>
                  <c:pt idx="27">
                    <c:v>Alabama</c:v>
                  </c:pt>
                  <c:pt idx="28">
                    <c:v>Arkansas</c:v>
                  </c:pt>
                  <c:pt idx="29">
                    <c:v>Florida</c:v>
                  </c:pt>
                  <c:pt idx="30">
                    <c:v>Georgia</c:v>
                  </c:pt>
                  <c:pt idx="31">
                    <c:v>Kentucky</c:v>
                  </c:pt>
                  <c:pt idx="32">
                    <c:v>Louisiana</c:v>
                  </c:pt>
                  <c:pt idx="33">
                    <c:v>Mississippi</c:v>
                  </c:pt>
                  <c:pt idx="34">
                    <c:v>North Carolina</c:v>
                  </c:pt>
                  <c:pt idx="35">
                    <c:v>South Carolina</c:v>
                  </c:pt>
                  <c:pt idx="36">
                    <c:v>Tennessee</c:v>
                  </c:pt>
                  <c:pt idx="37">
                    <c:v>Virginia</c:v>
                  </c:pt>
                  <c:pt idx="38">
                    <c:v>Arizona</c:v>
                  </c:pt>
                  <c:pt idx="39">
                    <c:v>California</c:v>
                  </c:pt>
                  <c:pt idx="40">
                    <c:v>Colorado</c:v>
                  </c:pt>
                  <c:pt idx="41">
                    <c:v>Idaho</c:v>
                  </c:pt>
                  <c:pt idx="42">
                    <c:v>Montana</c:v>
                  </c:pt>
                  <c:pt idx="43">
                    <c:v>Nevada</c:v>
                  </c:pt>
                  <c:pt idx="44">
                    <c:v>New Mexico</c:v>
                  </c:pt>
                  <c:pt idx="45">
                    <c:v>Oregon</c:v>
                  </c:pt>
                  <c:pt idx="46">
                    <c:v>Utah</c:v>
                  </c:pt>
                  <c:pt idx="47">
                    <c:v>Washington</c:v>
                  </c:pt>
                  <c:pt idx="48">
                    <c:v>Wyoming</c:v>
                  </c:pt>
                </c:lvl>
                <c:lvl>
                  <c:pt idx="0">
                    <c:v>Central</c:v>
                  </c:pt>
                  <c:pt idx="13">
                    <c:v>East</c:v>
                  </c:pt>
                  <c:pt idx="27">
                    <c:v>South</c:v>
                  </c:pt>
                  <c:pt idx="38">
                    <c:v>West</c:v>
                  </c:pt>
                </c:lvl>
              </c:multiLvlStrCache>
            </c:multiLvlStrRef>
          </c:cat>
          <c:val>
            <c:numRef>
              <c:f>'Regional Performance'!$F$6:$F$55</c:f>
              <c:numCache>
                <c:formatCode>"₹"\ #,##0.00</c:formatCode>
                <c:ptCount val="49"/>
                <c:pt idx="0">
                  <c:v>12618.365199999997</c:v>
                </c:pt>
                <c:pt idx="1">
                  <c:v>15735.4</c:v>
                </c:pt>
                <c:pt idx="2">
                  <c:v>783.15</c:v>
                </c:pt>
                <c:pt idx="3">
                  <c:v>1954.15</c:v>
                </c:pt>
                <c:pt idx="4">
                  <c:v>37291.344099999995</c:v>
                </c:pt>
                <c:pt idx="5">
                  <c:v>19406.539999999997</c:v>
                </c:pt>
                <c:pt idx="6">
                  <c:v>12182.180000000002</c:v>
                </c:pt>
                <c:pt idx="7">
                  <c:v>2234.4899999999998</c:v>
                </c:pt>
                <c:pt idx="8">
                  <c:v>919.91</c:v>
                </c:pt>
                <c:pt idx="9">
                  <c:v>5030.8399999999992</c:v>
                </c:pt>
                <c:pt idx="10">
                  <c:v>597.72</c:v>
                </c:pt>
                <c:pt idx="11">
                  <c:v>28722.129999999986</c:v>
                </c:pt>
                <c:pt idx="12">
                  <c:v>6059.840000000002</c:v>
                </c:pt>
                <c:pt idx="13">
                  <c:v>5418.34</c:v>
                </c:pt>
                <c:pt idx="14">
                  <c:v>8129.5299999999988</c:v>
                </c:pt>
                <c:pt idx="15">
                  <c:v>138.51999999999998</c:v>
                </c:pt>
                <c:pt idx="16">
                  <c:v>399.79999999999995</c:v>
                </c:pt>
                <c:pt idx="17">
                  <c:v>10390.229999999998</c:v>
                </c:pt>
                <c:pt idx="18">
                  <c:v>11988.74</c:v>
                </c:pt>
                <c:pt idx="19">
                  <c:v>1769.25</c:v>
                </c:pt>
                <c:pt idx="20">
                  <c:v>14956.11</c:v>
                </c:pt>
                <c:pt idx="21">
                  <c:v>83528.659599999955</c:v>
                </c:pt>
                <c:pt idx="22">
                  <c:v>13747.855699999998</c:v>
                </c:pt>
                <c:pt idx="23">
                  <c:v>24820.342199999992</c:v>
                </c:pt>
                <c:pt idx="24">
                  <c:v>6234.79</c:v>
                </c:pt>
                <c:pt idx="25">
                  <c:v>2209.5100000000002</c:v>
                </c:pt>
                <c:pt idx="26">
                  <c:v>536.48</c:v>
                </c:pt>
                <c:pt idx="27">
                  <c:v>4209.08</c:v>
                </c:pt>
                <c:pt idx="28">
                  <c:v>4565.33</c:v>
                </c:pt>
                <c:pt idx="29">
                  <c:v>13769.658200000009</c:v>
                </c:pt>
                <c:pt idx="30">
                  <c:v>26715.809999999983</c:v>
                </c:pt>
                <c:pt idx="31">
                  <c:v>11894.269999999999</c:v>
                </c:pt>
                <c:pt idx="32">
                  <c:v>3423.16</c:v>
                </c:pt>
                <c:pt idx="33">
                  <c:v>3631.16</c:v>
                </c:pt>
                <c:pt idx="34">
                  <c:v>10210.488300000008</c:v>
                </c:pt>
                <c:pt idx="35">
                  <c:v>3811.84</c:v>
                </c:pt>
                <c:pt idx="36">
                  <c:v>7304.2654000000011</c:v>
                </c:pt>
                <c:pt idx="37">
                  <c:v>21169.610000000008</c:v>
                </c:pt>
                <c:pt idx="38">
                  <c:v>6911.9835000000012</c:v>
                </c:pt>
                <c:pt idx="39">
                  <c:v>136657.31439999992</c:v>
                </c:pt>
                <c:pt idx="40">
                  <c:v>6064.5176000000019</c:v>
                </c:pt>
                <c:pt idx="41">
                  <c:v>935.1748</c:v>
                </c:pt>
                <c:pt idx="42">
                  <c:v>1761.9644000000003</c:v>
                </c:pt>
                <c:pt idx="43">
                  <c:v>5977.4872000000005</c:v>
                </c:pt>
                <c:pt idx="44">
                  <c:v>1359.0556000000001</c:v>
                </c:pt>
                <c:pt idx="45">
                  <c:v>4076.6392000000019</c:v>
                </c:pt>
                <c:pt idx="46">
                  <c:v>3935.8836000000001</c:v>
                </c:pt>
                <c:pt idx="47">
                  <c:v>36453.182399999983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95-4169-9525-60C2B6173392}"/>
            </c:ext>
          </c:extLst>
        </c:ser>
        <c:ser>
          <c:idx val="4"/>
          <c:order val="4"/>
          <c:tx>
            <c:strRef>
              <c:f>'Regional Performance'!$G$3:$G$5</c:f>
              <c:strCache>
                <c:ptCount val="1"/>
                <c:pt idx="0">
                  <c:v>Technology - Sum of Profit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'Regional Performance'!$A$6:$B$55</c:f>
              <c:multiLvlStrCache>
                <c:ptCount val="49"/>
                <c:lvl>
                  <c:pt idx="0">
                    <c:v>Illinois</c:v>
                  </c:pt>
                  <c:pt idx="1">
                    <c:v>Indiana</c:v>
                  </c:pt>
                  <c:pt idx="2">
                    <c:v>Iowa</c:v>
                  </c:pt>
                  <c:pt idx="3">
                    <c:v>Kansas</c:v>
                  </c:pt>
                  <c:pt idx="4">
                    <c:v>Michigan</c:v>
                  </c:pt>
                  <c:pt idx="5">
                    <c:v>Minnesota</c:v>
                  </c:pt>
                  <c:pt idx="6">
                    <c:v>Missouri</c:v>
                  </c:pt>
                  <c:pt idx="7">
                    <c:v>Nebraska</c:v>
                  </c:pt>
                  <c:pt idx="8">
                    <c:v>North Dakota</c:v>
                  </c:pt>
                  <c:pt idx="9">
                    <c:v>Oklahoma</c:v>
                  </c:pt>
                  <c:pt idx="10">
                    <c:v>South Dakota</c:v>
                  </c:pt>
                  <c:pt idx="11">
                    <c:v>Texas</c:v>
                  </c:pt>
                  <c:pt idx="12">
                    <c:v>Wisconsin</c:v>
                  </c:pt>
                  <c:pt idx="13">
                    <c:v>Connecticut</c:v>
                  </c:pt>
                  <c:pt idx="14">
                    <c:v>Delaware</c:v>
                  </c:pt>
                  <c:pt idx="15">
                    <c:v>District of Columbia</c:v>
                  </c:pt>
                  <c:pt idx="16">
                    <c:v>Maine</c:v>
                  </c:pt>
                  <c:pt idx="17">
                    <c:v>Maryland</c:v>
                  </c:pt>
                  <c:pt idx="18">
                    <c:v>Massachusetts</c:v>
                  </c:pt>
                  <c:pt idx="19">
                    <c:v>New Hampshire</c:v>
                  </c:pt>
                  <c:pt idx="20">
                    <c:v>New Jersey</c:v>
                  </c:pt>
                  <c:pt idx="21">
                    <c:v>New York</c:v>
                  </c:pt>
                  <c:pt idx="22">
                    <c:v>Ohio</c:v>
                  </c:pt>
                  <c:pt idx="23">
                    <c:v>Pennsylvania</c:v>
                  </c:pt>
                  <c:pt idx="24">
                    <c:v>Rhode Island</c:v>
                  </c:pt>
                  <c:pt idx="25">
                    <c:v>Vermont</c:v>
                  </c:pt>
                  <c:pt idx="26">
                    <c:v>West Virginia</c:v>
                  </c:pt>
                  <c:pt idx="27">
                    <c:v>Alabama</c:v>
                  </c:pt>
                  <c:pt idx="28">
                    <c:v>Arkansas</c:v>
                  </c:pt>
                  <c:pt idx="29">
                    <c:v>Florida</c:v>
                  </c:pt>
                  <c:pt idx="30">
                    <c:v>Georgia</c:v>
                  </c:pt>
                  <c:pt idx="31">
                    <c:v>Kentucky</c:v>
                  </c:pt>
                  <c:pt idx="32">
                    <c:v>Louisiana</c:v>
                  </c:pt>
                  <c:pt idx="33">
                    <c:v>Mississippi</c:v>
                  </c:pt>
                  <c:pt idx="34">
                    <c:v>North Carolina</c:v>
                  </c:pt>
                  <c:pt idx="35">
                    <c:v>South Carolina</c:v>
                  </c:pt>
                  <c:pt idx="36">
                    <c:v>Tennessee</c:v>
                  </c:pt>
                  <c:pt idx="37">
                    <c:v>Virginia</c:v>
                  </c:pt>
                  <c:pt idx="38">
                    <c:v>Arizona</c:v>
                  </c:pt>
                  <c:pt idx="39">
                    <c:v>California</c:v>
                  </c:pt>
                  <c:pt idx="40">
                    <c:v>Colorado</c:v>
                  </c:pt>
                  <c:pt idx="41">
                    <c:v>Idaho</c:v>
                  </c:pt>
                  <c:pt idx="42">
                    <c:v>Montana</c:v>
                  </c:pt>
                  <c:pt idx="43">
                    <c:v>Nevada</c:v>
                  </c:pt>
                  <c:pt idx="44">
                    <c:v>New Mexico</c:v>
                  </c:pt>
                  <c:pt idx="45">
                    <c:v>Oregon</c:v>
                  </c:pt>
                  <c:pt idx="46">
                    <c:v>Utah</c:v>
                  </c:pt>
                  <c:pt idx="47">
                    <c:v>Washington</c:v>
                  </c:pt>
                  <c:pt idx="48">
                    <c:v>Wyoming</c:v>
                  </c:pt>
                </c:lvl>
                <c:lvl>
                  <c:pt idx="0">
                    <c:v>Central</c:v>
                  </c:pt>
                  <c:pt idx="13">
                    <c:v>East</c:v>
                  </c:pt>
                  <c:pt idx="27">
                    <c:v>South</c:v>
                  </c:pt>
                  <c:pt idx="38">
                    <c:v>West</c:v>
                  </c:pt>
                </c:lvl>
              </c:multiLvlStrCache>
            </c:multiLvlStrRef>
          </c:cat>
          <c:val>
            <c:numRef>
              <c:f>'Regional Performance'!$G$6:$G$55</c:f>
              <c:numCache>
                <c:formatCode>"₹"\ #,##0.00</c:formatCode>
                <c:ptCount val="49"/>
                <c:pt idx="0">
                  <c:v>4822.5591999999979</c:v>
                </c:pt>
                <c:pt idx="1">
                  <c:v>11000.8773</c:v>
                </c:pt>
                <c:pt idx="2">
                  <c:v>318.3682</c:v>
                </c:pt>
                <c:pt idx="3">
                  <c:v>174.98660000000001</c:v>
                </c:pt>
                <c:pt idx="4">
                  <c:v>4782.3024999999998</c:v>
                </c:pt>
                <c:pt idx="5">
                  <c:v>1018.8007999999999</c:v>
                </c:pt>
                <c:pt idx="6">
                  <c:v>3014.7267999999995</c:v>
                </c:pt>
                <c:pt idx="7">
                  <c:v>961.51499999999999</c:v>
                </c:pt>
                <c:pt idx="9">
                  <c:v>1580.9003</c:v>
                </c:pt>
                <c:pt idx="10">
                  <c:v>133.89660000000001</c:v>
                </c:pt>
                <c:pt idx="11">
                  <c:v>3291.4289999999992</c:v>
                </c:pt>
                <c:pt idx="12">
                  <c:v>2597.0697000000005</c:v>
                </c:pt>
                <c:pt idx="13">
                  <c:v>780.93359999999996</c:v>
                </c:pt>
                <c:pt idx="14">
                  <c:v>6239.0508</c:v>
                </c:pt>
                <c:pt idx="15">
                  <c:v>648.56240000000003</c:v>
                </c:pt>
                <c:pt idx="16">
                  <c:v>251.03280000000001</c:v>
                </c:pt>
                <c:pt idx="17">
                  <c:v>1322.8775999999998</c:v>
                </c:pt>
                <c:pt idx="18">
                  <c:v>1755.7501000000002</c:v>
                </c:pt>
                <c:pt idx="19">
                  <c:v>902.70730000000003</c:v>
                </c:pt>
                <c:pt idx="20">
                  <c:v>4170.1979999999994</c:v>
                </c:pt>
                <c:pt idx="21">
                  <c:v>42186.785600000003</c:v>
                </c:pt>
                <c:pt idx="22">
                  <c:v>-12649.940099999998</c:v>
                </c:pt>
                <c:pt idx="23">
                  <c:v>-3191.2216000000003</c:v>
                </c:pt>
                <c:pt idx="24">
                  <c:v>4598.0123000000003</c:v>
                </c:pt>
                <c:pt idx="25">
                  <c:v>447.28629999999998</c:v>
                </c:pt>
                <c:pt idx="27">
                  <c:v>3297.8029000000006</c:v>
                </c:pt>
                <c:pt idx="28">
                  <c:v>1261.4383999999998</c:v>
                </c:pt>
                <c:pt idx="29">
                  <c:v>530.80479999999943</c:v>
                </c:pt>
                <c:pt idx="30">
                  <c:v>4399.6596999999992</c:v>
                </c:pt>
                <c:pt idx="31">
                  <c:v>4156.6363999999994</c:v>
                </c:pt>
                <c:pt idx="32">
                  <c:v>1015.0151999999999</c:v>
                </c:pt>
                <c:pt idx="33">
                  <c:v>986.40240000000006</c:v>
                </c:pt>
                <c:pt idx="34">
                  <c:v>-3583.3039999999996</c:v>
                </c:pt>
                <c:pt idx="35">
                  <c:v>453.58750000000003</c:v>
                </c:pt>
                <c:pt idx="36">
                  <c:v>66.033699999999996</c:v>
                </c:pt>
                <c:pt idx="37">
                  <c:v>7407.7543999999998</c:v>
                </c:pt>
                <c:pt idx="38">
                  <c:v>112.5012000000001</c:v>
                </c:pt>
                <c:pt idx="39">
                  <c:v>29470.03679999998</c:v>
                </c:pt>
                <c:pt idx="40">
                  <c:v>-3471.5844999999999</c:v>
                </c:pt>
                <c:pt idx="41">
                  <c:v>92.09729999999999</c:v>
                </c:pt>
                <c:pt idx="42">
                  <c:v>1523.0354000000002</c:v>
                </c:pt>
                <c:pt idx="43">
                  <c:v>512.84559999999999</c:v>
                </c:pt>
                <c:pt idx="44">
                  <c:v>337.28280000000001</c:v>
                </c:pt>
                <c:pt idx="45">
                  <c:v>126.35640000000001</c:v>
                </c:pt>
                <c:pt idx="46">
                  <c:v>581.73509999999999</c:v>
                </c:pt>
                <c:pt idx="47">
                  <c:v>15019.343499999999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95-4169-9525-60C2B6173392}"/>
            </c:ext>
          </c:extLst>
        </c:ser>
        <c:ser>
          <c:idx val="5"/>
          <c:order val="5"/>
          <c:tx>
            <c:strRef>
              <c:f>'Regional Performance'!$H$3:$H$5</c:f>
              <c:strCache>
                <c:ptCount val="1"/>
                <c:pt idx="0">
                  <c:v>Technology - Sum of Adjusted Sales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'Regional Performance'!$A$6:$B$55</c:f>
              <c:multiLvlStrCache>
                <c:ptCount val="49"/>
                <c:lvl>
                  <c:pt idx="0">
                    <c:v>Illinois</c:v>
                  </c:pt>
                  <c:pt idx="1">
                    <c:v>Indiana</c:v>
                  </c:pt>
                  <c:pt idx="2">
                    <c:v>Iowa</c:v>
                  </c:pt>
                  <c:pt idx="3">
                    <c:v>Kansas</c:v>
                  </c:pt>
                  <c:pt idx="4">
                    <c:v>Michigan</c:v>
                  </c:pt>
                  <c:pt idx="5">
                    <c:v>Minnesota</c:v>
                  </c:pt>
                  <c:pt idx="6">
                    <c:v>Missouri</c:v>
                  </c:pt>
                  <c:pt idx="7">
                    <c:v>Nebraska</c:v>
                  </c:pt>
                  <c:pt idx="8">
                    <c:v>North Dakota</c:v>
                  </c:pt>
                  <c:pt idx="9">
                    <c:v>Oklahoma</c:v>
                  </c:pt>
                  <c:pt idx="10">
                    <c:v>South Dakota</c:v>
                  </c:pt>
                  <c:pt idx="11">
                    <c:v>Texas</c:v>
                  </c:pt>
                  <c:pt idx="12">
                    <c:v>Wisconsin</c:v>
                  </c:pt>
                  <c:pt idx="13">
                    <c:v>Connecticut</c:v>
                  </c:pt>
                  <c:pt idx="14">
                    <c:v>Delaware</c:v>
                  </c:pt>
                  <c:pt idx="15">
                    <c:v>District of Columbia</c:v>
                  </c:pt>
                  <c:pt idx="16">
                    <c:v>Maine</c:v>
                  </c:pt>
                  <c:pt idx="17">
                    <c:v>Maryland</c:v>
                  </c:pt>
                  <c:pt idx="18">
                    <c:v>Massachusetts</c:v>
                  </c:pt>
                  <c:pt idx="19">
                    <c:v>New Hampshire</c:v>
                  </c:pt>
                  <c:pt idx="20">
                    <c:v>New Jersey</c:v>
                  </c:pt>
                  <c:pt idx="21">
                    <c:v>New York</c:v>
                  </c:pt>
                  <c:pt idx="22">
                    <c:v>Ohio</c:v>
                  </c:pt>
                  <c:pt idx="23">
                    <c:v>Pennsylvania</c:v>
                  </c:pt>
                  <c:pt idx="24">
                    <c:v>Rhode Island</c:v>
                  </c:pt>
                  <c:pt idx="25">
                    <c:v>Vermont</c:v>
                  </c:pt>
                  <c:pt idx="26">
                    <c:v>West Virginia</c:v>
                  </c:pt>
                  <c:pt idx="27">
                    <c:v>Alabama</c:v>
                  </c:pt>
                  <c:pt idx="28">
                    <c:v>Arkansas</c:v>
                  </c:pt>
                  <c:pt idx="29">
                    <c:v>Florida</c:v>
                  </c:pt>
                  <c:pt idx="30">
                    <c:v>Georgia</c:v>
                  </c:pt>
                  <c:pt idx="31">
                    <c:v>Kentucky</c:v>
                  </c:pt>
                  <c:pt idx="32">
                    <c:v>Louisiana</c:v>
                  </c:pt>
                  <c:pt idx="33">
                    <c:v>Mississippi</c:v>
                  </c:pt>
                  <c:pt idx="34">
                    <c:v>North Carolina</c:v>
                  </c:pt>
                  <c:pt idx="35">
                    <c:v>South Carolina</c:v>
                  </c:pt>
                  <c:pt idx="36">
                    <c:v>Tennessee</c:v>
                  </c:pt>
                  <c:pt idx="37">
                    <c:v>Virginia</c:v>
                  </c:pt>
                  <c:pt idx="38">
                    <c:v>Arizona</c:v>
                  </c:pt>
                  <c:pt idx="39">
                    <c:v>California</c:v>
                  </c:pt>
                  <c:pt idx="40">
                    <c:v>Colorado</c:v>
                  </c:pt>
                  <c:pt idx="41">
                    <c:v>Idaho</c:v>
                  </c:pt>
                  <c:pt idx="42">
                    <c:v>Montana</c:v>
                  </c:pt>
                  <c:pt idx="43">
                    <c:v>Nevada</c:v>
                  </c:pt>
                  <c:pt idx="44">
                    <c:v>New Mexico</c:v>
                  </c:pt>
                  <c:pt idx="45">
                    <c:v>Oregon</c:v>
                  </c:pt>
                  <c:pt idx="46">
                    <c:v>Utah</c:v>
                  </c:pt>
                  <c:pt idx="47">
                    <c:v>Washington</c:v>
                  </c:pt>
                  <c:pt idx="48">
                    <c:v>Wyoming</c:v>
                  </c:pt>
                </c:lvl>
                <c:lvl>
                  <c:pt idx="0">
                    <c:v>Central</c:v>
                  </c:pt>
                  <c:pt idx="13">
                    <c:v>East</c:v>
                  </c:pt>
                  <c:pt idx="27">
                    <c:v>South</c:v>
                  </c:pt>
                  <c:pt idx="38">
                    <c:v>West</c:v>
                  </c:pt>
                </c:lvl>
              </c:multiLvlStrCache>
            </c:multiLvlStrRef>
          </c:cat>
          <c:val>
            <c:numRef>
              <c:f>'Regional Performance'!$H$6:$H$55</c:f>
              <c:numCache>
                <c:formatCode>"₹"\ #,##0.00</c:formatCode>
                <c:ptCount val="49"/>
                <c:pt idx="0">
                  <c:v>25211.307900000007</c:v>
                </c:pt>
                <c:pt idx="1">
                  <c:v>26323.249999999996</c:v>
                </c:pt>
                <c:pt idx="2">
                  <c:v>1154.3</c:v>
                </c:pt>
                <c:pt idx="3">
                  <c:v>849.04000000000008</c:v>
                </c:pt>
                <c:pt idx="4">
                  <c:v>15883.659499999998</c:v>
                </c:pt>
                <c:pt idx="5">
                  <c:v>2845.2599999999998</c:v>
                </c:pt>
                <c:pt idx="6">
                  <c:v>7086.5200000000013</c:v>
                </c:pt>
                <c:pt idx="7">
                  <c:v>3285.74</c:v>
                </c:pt>
                <c:pt idx="9">
                  <c:v>6368.4500000000007</c:v>
                </c:pt>
                <c:pt idx="10">
                  <c:v>392.94000000000005</c:v>
                </c:pt>
                <c:pt idx="11">
                  <c:v>48174.134399999995</c:v>
                </c:pt>
                <c:pt idx="12">
                  <c:v>8798.159999999998</c:v>
                </c:pt>
                <c:pt idx="13">
                  <c:v>2791.0299999999993</c:v>
                </c:pt>
                <c:pt idx="14">
                  <c:v>14562.22</c:v>
                </c:pt>
                <c:pt idx="15">
                  <c:v>1379.92</c:v>
                </c:pt>
                <c:pt idx="16">
                  <c:v>761.25</c:v>
                </c:pt>
                <c:pt idx="17">
                  <c:v>4166.0399999999991</c:v>
                </c:pt>
                <c:pt idx="18">
                  <c:v>5726.630000000001</c:v>
                </c:pt>
                <c:pt idx="19">
                  <c:v>3636.8</c:v>
                </c:pt>
                <c:pt idx="20">
                  <c:v>14501.159999999998</c:v>
                </c:pt>
                <c:pt idx="21">
                  <c:v>124043.53200000011</c:v>
                </c:pt>
                <c:pt idx="22">
                  <c:v>20356.698199999999</c:v>
                </c:pt>
                <c:pt idx="23">
                  <c:v>26148.902299999991</c:v>
                </c:pt>
                <c:pt idx="24">
                  <c:v>10474.41</c:v>
                </c:pt>
                <c:pt idx="25">
                  <c:v>1599.76</c:v>
                </c:pt>
                <c:pt idx="27">
                  <c:v>8969.08</c:v>
                </c:pt>
                <c:pt idx="28">
                  <c:v>3925.25</c:v>
                </c:pt>
                <c:pt idx="29">
                  <c:v>30202.246800000001</c:v>
                </c:pt>
                <c:pt idx="30">
                  <c:v>14058.549999999996</c:v>
                </c:pt>
                <c:pt idx="31">
                  <c:v>12570.64</c:v>
                </c:pt>
                <c:pt idx="32">
                  <c:v>2830.84</c:v>
                </c:pt>
                <c:pt idx="33">
                  <c:v>2822.3300000000004</c:v>
                </c:pt>
                <c:pt idx="34">
                  <c:v>17080.298700000003</c:v>
                </c:pt>
                <c:pt idx="35">
                  <c:v>1591.62</c:v>
                </c:pt>
                <c:pt idx="36">
                  <c:v>3623.6839</c:v>
                </c:pt>
                <c:pt idx="37">
                  <c:v>24145.16</c:v>
                </c:pt>
                <c:pt idx="38">
                  <c:v>8917.7335000000021</c:v>
                </c:pt>
                <c:pt idx="39">
                  <c:v>134867.86760000011</c:v>
                </c:pt>
                <c:pt idx="40">
                  <c:v>7116.2187000000013</c:v>
                </c:pt>
                <c:pt idx="41">
                  <c:v>687.99240000000009</c:v>
                </c:pt>
                <c:pt idx="42">
                  <c:v>3573.8251999999998</c:v>
                </c:pt>
                <c:pt idx="43">
                  <c:v>4155.5148000000008</c:v>
                </c:pt>
                <c:pt idx="44">
                  <c:v>1591.1024000000002</c:v>
                </c:pt>
                <c:pt idx="45">
                  <c:v>4552.2868000000008</c:v>
                </c:pt>
                <c:pt idx="46">
                  <c:v>2186.8591999999999</c:v>
                </c:pt>
                <c:pt idx="47">
                  <c:v>47503.165999999997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F95-4169-9525-60C2B6173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4668192"/>
        <c:axId val="1434669152"/>
      </c:barChart>
      <c:catAx>
        <c:axId val="143466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669152"/>
        <c:crosses val="autoZero"/>
        <c:auto val="1"/>
        <c:lblAlgn val="ctr"/>
        <c:lblOffset val="100"/>
        <c:noMultiLvlLbl val="0"/>
      </c:catAx>
      <c:valAx>
        <c:axId val="143466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66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A493-967D-EB8E-EC17-C817368EF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4747" y="2258960"/>
            <a:ext cx="8791575" cy="1428135"/>
          </a:xfrm>
        </p:spPr>
        <p:txBody>
          <a:bodyPr/>
          <a:lstStyle/>
          <a:p>
            <a:pPr algn="ctr"/>
            <a:r>
              <a:rPr lang="en-IN" dirty="0"/>
              <a:t>Sales Analytics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D4AF0C-FC0A-5947-EAFF-0F61D38CA65E}"/>
              </a:ext>
            </a:extLst>
          </p:cNvPr>
          <p:cNvSpPr txBox="1"/>
          <p:nvPr/>
        </p:nvSpPr>
        <p:spPr>
          <a:xfrm>
            <a:off x="7959437" y="4457699"/>
            <a:ext cx="3616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Dharshini A</a:t>
            </a:r>
          </a:p>
        </p:txBody>
      </p:sp>
    </p:spTree>
    <p:extLst>
      <p:ext uri="{BB962C8B-B14F-4D97-AF65-F5344CB8AC3E}">
        <p14:creationId xmlns:p14="http://schemas.microsoft.com/office/powerpoint/2010/main" val="366606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E4FF-622F-DFE1-DB80-35F3452B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40835B-0227-3ED8-2D3A-820208167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8729" y="1810312"/>
            <a:ext cx="884383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Build a professional Excel-based sales analytics dashboard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sales performance across categories, sub-categories, and regions.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key revenue drivers, top-performing products, and customer segments.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profitability and understand the impact of discounts on margins.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operational efficiency through shipping mode analysis.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reports with PivotTables, Charts, Slicers, and Macros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9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EF29-A4C2-D1CD-021D-84A30343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0EFB99-66DB-B5DE-2168-7101EA0AE6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0070" y="1663493"/>
            <a:ext cx="501447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Superstore sales (Orders, Customers, Products, Shipping)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&amp; invalid dates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helper columns (Month-Year, Adjusted Sales, Profit Margin)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formats: Date, Currency, Percentages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FD77-E64B-56C6-61BA-C860B6826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202" y="1319644"/>
            <a:ext cx="4514125" cy="373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4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24B7-1740-2CA6-1A46-11A74379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Monthly Sales Trend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E19AA0-E653-09EA-A8EF-C931E2DBB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226499"/>
              </p:ext>
            </p:extLst>
          </p:nvPr>
        </p:nvGraphicFramePr>
        <p:xfrm>
          <a:off x="1141413" y="2249488"/>
          <a:ext cx="9905998" cy="2873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A03A27-C50E-4AB1-FDE3-01B005198E07}"/>
              </a:ext>
            </a:extLst>
          </p:cNvPr>
          <p:cNvSpPr txBox="1"/>
          <p:nvPr/>
        </p:nvSpPr>
        <p:spPr>
          <a:xfrm>
            <a:off x="3038168" y="5574890"/>
            <a:ext cx="6715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 Sales vs. Time (Month-Year)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3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857B-F45B-E5D1-2DF1-5D3516953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ADC2E8-C18A-E4C6-B5C6-1D360996D9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59432"/>
              </p:ext>
            </p:extLst>
          </p:nvPr>
        </p:nvGraphicFramePr>
        <p:xfrm>
          <a:off x="1141413" y="2249488"/>
          <a:ext cx="9905998" cy="300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660EBE-A2D8-6686-3649-614E4215076A}"/>
              </a:ext>
            </a:extLst>
          </p:cNvPr>
          <p:cNvSpPr txBox="1"/>
          <p:nvPr/>
        </p:nvSpPr>
        <p:spPr>
          <a:xfrm>
            <a:off x="2743200" y="5653548"/>
            <a:ext cx="5781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 Category vs. Sales &amp; Profit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76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F5B5-9540-5415-22DF-5CECF749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Shipping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C355D1-1352-211D-2617-37B35FFA1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321682"/>
              </p:ext>
            </p:extLst>
          </p:nvPr>
        </p:nvGraphicFramePr>
        <p:xfrm>
          <a:off x="1141413" y="2249487"/>
          <a:ext cx="9906000" cy="3109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E21341-B429-1301-70F3-7454119B3C0B}"/>
              </a:ext>
            </a:extLst>
          </p:cNvPr>
          <p:cNvSpPr txBox="1"/>
          <p:nvPr/>
        </p:nvSpPr>
        <p:spPr>
          <a:xfrm>
            <a:off x="3293806" y="5761703"/>
            <a:ext cx="4788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Chart: Ship Mode vs. Avg Sales &amp; Orders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1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0747-6470-07E9-2EF6-E93BAA2D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BC301-44D5-5660-536E-954A06F81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616756"/>
              </p:ext>
            </p:extLst>
          </p:nvPr>
        </p:nvGraphicFramePr>
        <p:xfrm>
          <a:off x="1141413" y="2249488"/>
          <a:ext cx="9906000" cy="2991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083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60C7-6E70-CAB7-4046-16ACE7CD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SUPERSTORE SALES ANALYTICS DASHBOARD</a:t>
            </a:r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4CF2B6-27F3-E6DC-A2C3-FC8C82228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249488"/>
            <a:ext cx="9905998" cy="439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0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18C5-A1B8-E4AB-55AD-8009A47A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AEF50E-EDF1-8A29-89DF-5D595D311C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487171"/>
            <a:ext cx="5936369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VBA Macros implemented: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FormatWorksheet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cleans &amp; formats reports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RefreshAllData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updates all pivots &amp; charts instantly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One-click automation saves analyst time</a:t>
            </a:r>
          </a:p>
        </p:txBody>
      </p:sp>
    </p:spTree>
    <p:extLst>
      <p:ext uri="{BB962C8B-B14F-4D97-AF65-F5344CB8AC3E}">
        <p14:creationId xmlns:p14="http://schemas.microsoft.com/office/powerpoint/2010/main" val="236279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2223-165C-6EF7-1E77-F0E71285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CEE39E-CF10-D594-871B-E850C77ED7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097088"/>
            <a:ext cx="9014712" cy="18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 provides end-to-end analytics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Automated, interactive, and manager-ready reporting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strategic decisions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Revenue, Customer, Operations, and Profitability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22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E9F67-5938-10AB-6CEE-1374773D9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13507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91</TotalTime>
  <Words>227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Tw Cen MT</vt:lpstr>
      <vt:lpstr>Circuit</vt:lpstr>
      <vt:lpstr>Sales Analytics Project</vt:lpstr>
      <vt:lpstr>Objectives</vt:lpstr>
      <vt:lpstr>Data Preparation</vt:lpstr>
      <vt:lpstr>Monthly Sales Trend</vt:lpstr>
      <vt:lpstr>Sales Trend Chart</vt:lpstr>
      <vt:lpstr>Shipping Performance</vt:lpstr>
      <vt:lpstr>Regional Analysis</vt:lpstr>
      <vt:lpstr>SUPERSTORE SALES ANALYTICS DASHBOARD </vt:lpstr>
      <vt:lpstr>Automation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dharshini ashok</dc:creator>
  <cp:lastModifiedBy>dharshini ashok</cp:lastModifiedBy>
  <cp:revision>2</cp:revision>
  <dcterms:created xsi:type="dcterms:W3CDTF">2025-09-10T10:46:49Z</dcterms:created>
  <dcterms:modified xsi:type="dcterms:W3CDTF">2025-09-11T13:37:15Z</dcterms:modified>
</cp:coreProperties>
</file>